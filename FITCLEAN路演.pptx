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0.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 id="2147483662" r:id="rId3"/>
    <p:sldMasterId id="2147483664" r:id="rId4"/>
  </p:sldMasterIdLst>
  <p:notesMasterIdLst>
    <p:notesMasterId r:id="rId24"/>
  </p:notesMasterIdLst>
  <p:sldIdLst>
    <p:sldId id="274" r:id="rId5"/>
    <p:sldId id="275" r:id="rId6"/>
    <p:sldId id="276" r:id="rId7"/>
    <p:sldId id="257" r:id="rId8"/>
    <p:sldId id="277" r:id="rId9"/>
    <p:sldId id="258" r:id="rId10"/>
    <p:sldId id="259" r:id="rId11"/>
    <p:sldId id="260" r:id="rId12"/>
    <p:sldId id="261" r:id="rId13"/>
    <p:sldId id="279" r:id="rId14"/>
    <p:sldId id="262" r:id="rId15"/>
    <p:sldId id="267" r:id="rId16"/>
    <p:sldId id="269" r:id="rId17"/>
    <p:sldId id="270" r:id="rId18"/>
    <p:sldId id="265" r:id="rId19"/>
    <p:sldId id="271" r:id="rId20"/>
    <p:sldId id="272" r:id="rId21"/>
    <p:sldId id="273" r:id="rId22"/>
    <p:sldId id="278" r:id="rId23"/>
  </p:sldIdLst>
  <p:sldSz cx="12192000" cy="6858000"/>
  <p:notesSz cx="6858000" cy="9144000"/>
  <p:custDataLst>
    <p:tags r:id="rId25"/>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40" userDrawn="1">
          <p15:clr>
            <a:srgbClr val="747775"/>
          </p15:clr>
        </p15:guide>
        <p15:guide id="2" pos="2877"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B9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15" autoAdjust="0"/>
    <p:restoredTop sz="94660"/>
  </p:normalViewPr>
  <p:slideViewPr>
    <p:cSldViewPr snapToGrid="0" showGuides="1">
      <p:cViewPr varScale="1">
        <p:scale>
          <a:sx n="65" d="100"/>
          <a:sy n="65" d="100"/>
        </p:scale>
        <p:origin x="48" y="64"/>
      </p:cViewPr>
      <p:guideLst>
        <p:guide orient="horz" pos="1640"/>
        <p:guide pos="287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09.05.2026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大家好，欢迎来到FITCLEAN的产品介绍会。今天，我们将向大家展示一款旨在彻底改变健身房卫生现状的创新解决方案。我们相信，一个洁净的环境是卓越健身体验的基石。FITCLEAN，正是为此而生。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介绍将分为五个部分。首先，您将认识我们的团队；接着，我们将通过一个真实的用户故事，让您感受问题的存在；然后，我们会描绘我们的核心用户画像；之后，深入剖析当前健身房面临的痛点；最后，展示我们的创新解决方案和未来蓝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首先，请允许我介绍我们的团队——Heal the world团队。我们是一群对生活品质和技术创新充满热情的人，致力于通过技术手段，解决行业中的实际痛点。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我们是Heal the world团队，由我李璐羽，以及我的伙伴任佳蒙、张坚强组成。我们共同关注到一个长期被忽视但至关重要的问题——健身房的卫生状况。今天，我们将提出一个解决方案，目标是重新定义健身房的“洁净力”。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接下来，让我们通过一个健身爱好者的真实故事，来感受一下传统健身房卫生问题带来的困扰，以及FITCLEAN是如何改变这一切的。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让我们来看一个非常普遍的场景。想象一下，你是一位像小Lin这样热爱健身、注重品质的会员。当你准备大展身手时，却发现器械上布满了前人留下的汗渍。这种体验无疑是糟糕的，它不仅影响心情，更直接打击了我们的健身积极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种糟糕的体验，揭示了用户和健身房管理者面临的双重困境。对于用户来说，器械不洁、反馈无门、处理缓慢是三大痛点。而对于管理者，单纯依赖人工巡检不仅效率低，还存在严重的管理滞后问题，最终损害的是用户满意度和品牌声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解决这些痛点，我们设计了FITCLEAN微信小程序。通过这个平台，用户可以一键扫码反馈问题，指令会立即发送给保洁人员，实现“即报即清”。我们构建了一个从发现到解决的全链路闭环。我们的愿景很简单：FITCLEAN，让每一滴汗水都流得痛快，让每一次训练都安心无忧！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大家好，前面我们分析了市场痛点和我们的解决方案。现在，我将为大家详细介绍我们的商业模式。一个好的商业模式是项目成功的基石，它将决定我们如何创造价值、传递价值并获取价值。我们的商业模式旨在构建一个可持续的商业闭环，不仅能解决用户的痛点，还能为我们的客户带来切实的商业回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我们的商业模式从精准的客户定位开始。我们聚焦于对健身体验和运营效率有高要求的中高端连锁健身房和精品工作室。针对这类客户，我们设计了灵活的分层收费模式。基础版提供核心的软件功能，满足单店的基本需求；高级版则通过“软件+硬件”的结合，提供更深度的管理和数据服务，并支持连锁品牌的多门店管理。这种模式既降低了客户的入门门槛，又为我们提供了清晰的盈利路径和增长空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我们的商业模式从精准的客户定位开始。我们聚焦于对健身体验和运营效率有高要求的中高端连锁健身房和精品工作室。针对这类客户，我们设计了灵活的分层收费模式。基础版提供核心的软件功能，满足单店的基本需求；高级版则通过“软件+硬件”的结合，提供更深度的管理和数据服务，并支持连锁品牌的多门店管理。这种模式既降低了客户的入门门槛，又为我们提供了清晰的盈利路径和增长空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我们的商业模式从精准的客户定位开始。我们聚焦于对健身体验和运营效率有高要求的中高端连锁健身房和精品工作室。针对这类客户，我们设计了灵活的分层收费模式。基础版提供核心的软件功能，满足单店的基本需求；高级版则通过“软件+硬件”的结合，提供更深度的管理和数据服务，并支持连锁品牌的多门店管理。这种模式既降低了客户的入门门槛，又为我们提供了清晰的盈利路径和增长空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我们的商业模式从精准的客户定位开始。我们聚焦于对健身体验和运营效率有高要求的中高端连锁健身房和精品工作室。针对这类客户，我们设计了灵活的分层收费模式。基础版提供核心的软件功能，满足单店的基本需求；高级版则通过“软件+硬件”的结合，提供更深度的管理和数据服务，并支持连锁品牌的多门店管理。这种模式既降低了客户的入门门槛，又为我们提供了清晰的盈利路径和增长空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大家好，前面我们分析了市场痛点和我们的解决方案。现在，我将为大家详细介绍我们的商业模式。一个好的商业模式是项目成功的基石，它将决定我们如何创造价值、传递价值并获取价值。我们的商业模式旨在构建一个可持续的商业闭环，不仅能解决用户的痛点，还能为我们的客户带来切实的商业回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我们的商业模式从精准的客户定位开始。我们聚焦于对健身体验和运营效率有高要求的中高端连锁健身房和精品工作室。针对这类客户，我们设计了灵活的分层收费模式。基础版提供核心的软件功能，满足单店的基本需求；高级版则通过“软件+硬件”的结合，提供更深度的管理和数据服务，并支持连锁品牌的多门店管理。这种模式既降低了客户的入门门槛，又为我们提供了清晰的盈利路径和增长空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实现长期增长，我们制定了两大持续运营策略。首先是“数据反哺优化”，我们收集的每一条数据都将成为健身房提升运营效率的宝贵资产，帮助他们优化服务，最终提升会员满意度和忠诚度。其次是“场景横向拓展”，我们的核心技术和平台架构具备很强的复用性。在健身房场景成功验证后，我们将快速复制到瑜伽馆、游泳馆等其他泛健身领域，从而打开更广阔的市场空间，实现业务的规模化扩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最后，我想和大家分享一下我们对未来的展望。我们的目标绝不止于提供一个工具，我们希望通过技术和创新，从根本上改变行业的卫生标准和用户体验。我们的愿景是构建一张中国健身房的“卫生信用地图”，让每一位健身者都能安心选择，放心锻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我们的未来展望将通过清晰的分阶段计划来实现。第一阶段，我们专注于产品验证和试点，跑通核心业务流程。第二阶段，我们将实现软硬件的结合，并开始向泛健身场景拓展。第三阶段，也是最激动人心的阶段，我们将与行业头部平台合作，构建一个开放的卫生信用生态。我们的短期愿景是成为行业标准，而长期价值则是构建一张覆盖全国的健身房“卫生信用地图”，彻底解决用户的“汗渍焦虑”，让每一次训练都充满愉悦与安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我们的介绍到此结束。FITCLEAN的最终愿景，是让每一次训练都充满愉悦与安心。感谢大家的聆听，我们期待与您携手，共同推动健身房行业的服务升级。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3" Type="http://schemas.openxmlformats.org/officeDocument/2006/relationships/tags" Target="../tags/tag4.xml"/><Relationship Id="rId21" Type="http://schemas.openxmlformats.org/officeDocument/2006/relationships/slideLayout" Target="../slideLayouts/slideLayout1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image" Target="../media/image2.jpeg"/><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tags" Target="../tags/tag29.xml"/><Relationship Id="rId13" Type="http://schemas.openxmlformats.org/officeDocument/2006/relationships/image" Target="../media/image5.jpeg"/><Relationship Id="rId3" Type="http://schemas.openxmlformats.org/officeDocument/2006/relationships/tags" Target="../tags/tag24.xml"/><Relationship Id="rId7" Type="http://schemas.openxmlformats.org/officeDocument/2006/relationships/tags" Target="../tags/tag28.xml"/><Relationship Id="rId12" Type="http://schemas.openxmlformats.org/officeDocument/2006/relationships/image" Target="../media/image4.jpe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image" Target="../media/image3.jpeg"/><Relationship Id="rId5" Type="http://schemas.openxmlformats.org/officeDocument/2006/relationships/tags" Target="../tags/tag26.xml"/><Relationship Id="rId10" Type="http://schemas.openxmlformats.org/officeDocument/2006/relationships/notesSlide" Target="../notesSlides/notesSlide4.xml"/><Relationship Id="rId4" Type="http://schemas.openxmlformats.org/officeDocument/2006/relationships/tags" Target="../tags/tag25.xml"/><Relationship Id="rId9" Type="http://schemas.openxmlformats.org/officeDocument/2006/relationships/slideLayout" Target="../slideLayouts/slideLayout12.xml"/><Relationship Id="rId1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notesSlide" Target="../notesSlides/notesSlide6.xml"/><Relationship Id="rId7" Type="http://schemas.openxmlformats.org/officeDocument/2006/relationships/image" Target="../media/image9.svg"/><Relationship Id="rId2" Type="http://schemas.openxmlformats.org/officeDocument/2006/relationships/slideLayout" Target="../slideLayouts/slideLayout12.xml"/><Relationship Id="rId1" Type="http://schemas.openxmlformats.org/officeDocument/2006/relationships/tags" Target="../tags/tag30.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3.jpeg"/><Relationship Id="rId7" Type="http://schemas.openxmlformats.org/officeDocument/2006/relationships/image" Target="../media/image14.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3.svg"/><Relationship Id="rId11" Type="http://schemas.openxmlformats.org/officeDocument/2006/relationships/image" Target="../media/image18.svg"/><Relationship Id="rId5" Type="http://schemas.openxmlformats.org/officeDocument/2006/relationships/image" Target="../media/image12.sv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sv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3" Type="http://schemas.openxmlformats.org/officeDocument/2006/relationships/tags" Target="../tags/tag43.xml"/><Relationship Id="rId18" Type="http://schemas.openxmlformats.org/officeDocument/2006/relationships/tags" Target="../tags/tag48.xml"/><Relationship Id="rId26" Type="http://schemas.openxmlformats.org/officeDocument/2006/relationships/slideLayout" Target="../slideLayouts/slideLayout14.xml"/><Relationship Id="rId3" Type="http://schemas.openxmlformats.org/officeDocument/2006/relationships/tags" Target="../tags/tag33.xml"/><Relationship Id="rId21" Type="http://schemas.openxmlformats.org/officeDocument/2006/relationships/tags" Target="../tags/tag51.xml"/><Relationship Id="rId34" Type="http://schemas.openxmlformats.org/officeDocument/2006/relationships/image" Target="../media/image28.jpeg"/><Relationship Id="rId7" Type="http://schemas.openxmlformats.org/officeDocument/2006/relationships/tags" Target="../tags/tag37.xml"/><Relationship Id="rId12" Type="http://schemas.openxmlformats.org/officeDocument/2006/relationships/tags" Target="../tags/tag42.xml"/><Relationship Id="rId17" Type="http://schemas.openxmlformats.org/officeDocument/2006/relationships/tags" Target="../tags/tag47.xml"/><Relationship Id="rId25" Type="http://schemas.openxmlformats.org/officeDocument/2006/relationships/tags" Target="../tags/tag55.xml"/><Relationship Id="rId33" Type="http://schemas.openxmlformats.org/officeDocument/2006/relationships/image" Target="../media/image27.png"/><Relationship Id="rId2" Type="http://schemas.openxmlformats.org/officeDocument/2006/relationships/tags" Target="../tags/tag32.xml"/><Relationship Id="rId16" Type="http://schemas.openxmlformats.org/officeDocument/2006/relationships/tags" Target="../tags/tag46.xml"/><Relationship Id="rId20" Type="http://schemas.openxmlformats.org/officeDocument/2006/relationships/tags" Target="../tags/tag50.xml"/><Relationship Id="rId29" Type="http://schemas.openxmlformats.org/officeDocument/2006/relationships/image" Target="../media/image23.svg"/><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tags" Target="../tags/tag41.xml"/><Relationship Id="rId24" Type="http://schemas.openxmlformats.org/officeDocument/2006/relationships/tags" Target="../tags/tag54.xml"/><Relationship Id="rId32" Type="http://schemas.openxmlformats.org/officeDocument/2006/relationships/image" Target="../media/image26.svg"/><Relationship Id="rId5" Type="http://schemas.openxmlformats.org/officeDocument/2006/relationships/tags" Target="../tags/tag35.xml"/><Relationship Id="rId15" Type="http://schemas.openxmlformats.org/officeDocument/2006/relationships/tags" Target="../tags/tag45.xml"/><Relationship Id="rId23" Type="http://schemas.openxmlformats.org/officeDocument/2006/relationships/tags" Target="../tags/tag53.xml"/><Relationship Id="rId28" Type="http://schemas.openxmlformats.org/officeDocument/2006/relationships/image" Target="../media/image2.jpeg"/><Relationship Id="rId10" Type="http://schemas.openxmlformats.org/officeDocument/2006/relationships/tags" Target="../tags/tag40.xml"/><Relationship Id="rId19" Type="http://schemas.openxmlformats.org/officeDocument/2006/relationships/tags" Target="../tags/tag49.xml"/><Relationship Id="rId31" Type="http://schemas.openxmlformats.org/officeDocument/2006/relationships/image" Target="../media/image25.svg"/><Relationship Id="rId4" Type="http://schemas.openxmlformats.org/officeDocument/2006/relationships/tags" Target="../tags/tag34.xml"/><Relationship Id="rId9" Type="http://schemas.openxmlformats.org/officeDocument/2006/relationships/tags" Target="../tags/tag39.xml"/><Relationship Id="rId14" Type="http://schemas.openxmlformats.org/officeDocument/2006/relationships/tags" Target="../tags/tag44.xml"/><Relationship Id="rId22" Type="http://schemas.openxmlformats.org/officeDocument/2006/relationships/tags" Target="../tags/tag52.xml"/><Relationship Id="rId27" Type="http://schemas.openxmlformats.org/officeDocument/2006/relationships/notesSlide" Target="../notesSlides/notesSlide10.xml"/><Relationship Id="rId30" Type="http://schemas.openxmlformats.org/officeDocument/2006/relationships/image" Target="../media/image24.svg"/><Relationship Id="rId8" Type="http://schemas.openxmlformats.org/officeDocument/2006/relationships/tags" Target="../tags/tag38.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9.png"/><Relationship Id="rId5" Type="http://schemas.openxmlformats.org/officeDocument/2006/relationships/image" Target="../media/image2.jpe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31.jpe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tags" Target="../tags/tag58.xml"/><Relationship Id="rId7" Type="http://schemas.openxmlformats.org/officeDocument/2006/relationships/image" Target="../media/image32.svg"/><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image" Target="../media/image2.jpeg"/><Relationship Id="rId5" Type="http://schemas.openxmlformats.org/officeDocument/2006/relationships/notesSlide" Target="../notesSlides/notesSlide13.xml"/><Relationship Id="rId4" Type="http://schemas.openxmlformats.org/officeDocument/2006/relationships/slideLayout" Target="../slideLayouts/slideLayout13.xml"/><Relationship Id="rId9" Type="http://schemas.openxmlformats.org/officeDocument/2006/relationships/image" Target="../media/image34.sv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2.jpeg"/><Relationship Id="rId7" Type="http://schemas.openxmlformats.org/officeDocument/2006/relationships/image" Target="../media/image38.sv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37.svg"/><Relationship Id="rId5" Type="http://schemas.openxmlformats.org/officeDocument/2006/relationships/image" Target="../media/image36.svg"/><Relationship Id="rId4" Type="http://schemas.openxmlformats.org/officeDocument/2006/relationships/image" Target="../media/image35.svg"/></Relationships>
</file>

<file path=ppt/slides/_rels/slide16.xml.rels><?xml version="1.0" encoding="UTF-8" standalone="yes"?>
<Relationships xmlns="http://schemas.openxmlformats.org/package/2006/relationships"><Relationship Id="rId8" Type="http://schemas.openxmlformats.org/officeDocument/2006/relationships/tags" Target="../tags/tag66.xml"/><Relationship Id="rId13" Type="http://schemas.openxmlformats.org/officeDocument/2006/relationships/image" Target="../media/image2.jpeg"/><Relationship Id="rId3" Type="http://schemas.openxmlformats.org/officeDocument/2006/relationships/tags" Target="../tags/tag61.xml"/><Relationship Id="rId7" Type="http://schemas.openxmlformats.org/officeDocument/2006/relationships/tags" Target="../tags/tag65.xml"/><Relationship Id="rId12" Type="http://schemas.openxmlformats.org/officeDocument/2006/relationships/notesSlide" Target="../notesSlides/notesSlide16.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tags" Target="../tags/tag64.xml"/><Relationship Id="rId11" Type="http://schemas.openxmlformats.org/officeDocument/2006/relationships/slideLayout" Target="../slideLayouts/slideLayout13.xml"/><Relationship Id="rId5" Type="http://schemas.openxmlformats.org/officeDocument/2006/relationships/tags" Target="../tags/tag63.xml"/><Relationship Id="rId15" Type="http://schemas.openxmlformats.org/officeDocument/2006/relationships/image" Target="../media/image41.svg"/><Relationship Id="rId10" Type="http://schemas.openxmlformats.org/officeDocument/2006/relationships/tags" Target="../tags/tag68.xml"/><Relationship Id="rId4" Type="http://schemas.openxmlformats.org/officeDocument/2006/relationships/tags" Target="../tags/tag62.xml"/><Relationship Id="rId9" Type="http://schemas.openxmlformats.org/officeDocument/2006/relationships/tags" Target="../tags/tag67.xml"/><Relationship Id="rId14" Type="http://schemas.openxmlformats.org/officeDocument/2006/relationships/image" Target="../media/image40.sv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AutoShape 3"/>
          <p:cNvSpPr/>
          <p:nvPr/>
        </p:nvSpPr>
        <p:spPr>
          <a:xfrm>
            <a:off x="0" y="1905000"/>
            <a:ext cx="12192000" cy="8890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4800" b="1" i="0" u="none" strike="noStrike" kern="0" cap="none" spc="0" normalizeH="0" baseline="0" noProof="0">
                <a:ln>
                  <a:noFill/>
                </a:ln>
                <a:solidFill>
                  <a:srgbClr val="FFFFFF"/>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FITCLEAN：一键洁净，重塑健身体验</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 name="AutoShape 4"/>
          <p:cNvSpPr/>
          <p:nvPr/>
        </p:nvSpPr>
        <p:spPr>
          <a:xfrm>
            <a:off x="0" y="3048000"/>
            <a:ext cx="12192000" cy="5080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2200" b="0" i="0" u="none" strike="noStrike" kern="0" cap="none" spc="0" normalizeH="0" baseline="0" noProof="0">
                <a:ln>
                  <a:noFill/>
                </a:ln>
                <a:solidFill>
                  <a:srgbClr val="FFFFFF">
                    <a:alpha val="90196"/>
                  </a:srgbClr>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健身房器械卫生实时交互解决方案</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5" name="AutoShape 5"/>
          <p:cNvSpPr/>
          <p:nvPr/>
        </p:nvSpPr>
        <p:spPr>
          <a:xfrm>
            <a:off x="5588000" y="3937000"/>
            <a:ext cx="1016000" cy="50800"/>
          </a:xfrm>
          <a:prstGeom prst="roundRect">
            <a:avLst>
              <a:gd name="adj" fmla="val 50000"/>
            </a:avLst>
          </a:prstGeom>
          <a:solidFill>
            <a:srgbClr val="22C55E">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6" name="AutoShape 6"/>
          <p:cNvSpPr/>
          <p:nvPr/>
        </p:nvSpPr>
        <p:spPr>
          <a:xfrm>
            <a:off x="0" y="4572000"/>
            <a:ext cx="12192000" cy="3810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600" b="0" i="0" u="none" strike="noStrike" kern="0" cap="none" spc="0" normalizeH="0" baseline="0" noProof="0">
                <a:ln>
                  <a:noFill/>
                </a:ln>
                <a:solidFill>
                  <a:srgbClr val="FFFFFF">
                    <a:alpha val="80000"/>
                  </a:srgbClr>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Heal the world 团队</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7" name="AutoShape 7"/>
          <p:cNvSpPr/>
          <p:nvPr/>
        </p:nvSpPr>
        <p:spPr>
          <a:xfrm>
            <a:off x="0" y="5080000"/>
            <a:ext cx="12192000" cy="3810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400" b="0" i="0" u="none" strike="noStrike" kern="0" cap="none" spc="0" normalizeH="0" baseline="0" noProof="0">
                <a:ln>
                  <a:noFill/>
                </a:ln>
                <a:solidFill>
                  <a:srgbClr val="FFFFFF">
                    <a:alpha val="60000"/>
                  </a:srgbClr>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2026年4月</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18288"/>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AutoShape 3"/>
          <p:cNvSpPr/>
          <p:nvPr/>
        </p:nvSpPr>
        <p:spPr>
          <a:xfrm>
            <a:off x="762000" y="635000"/>
            <a:ext cx="3810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3200" b="1" i="0" u="none" strike="noStrike" kern="0" cap="none" spc="0" normalizeH="0" baseline="0" noProof="0">
                <a:ln>
                  <a:noFill/>
                </a:ln>
                <a:solidFill>
                  <a:srgbClr val="1F2937"/>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CONTENTS</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 name="AutoShape 4"/>
          <p:cNvSpPr/>
          <p:nvPr>
            <p:custDataLst>
              <p:tags r:id="rId1"/>
            </p:custDataLst>
          </p:nvPr>
        </p:nvSpPr>
        <p:spPr>
          <a:xfrm>
            <a:off x="762000" y="1651000"/>
            <a:ext cx="5207000" cy="1397000"/>
          </a:xfrm>
          <a:prstGeom prst="roundRect">
            <a:avLst>
              <a:gd name="adj" fmla="val 10909"/>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5" name="AutoShape 5"/>
          <p:cNvSpPr/>
          <p:nvPr>
            <p:custDataLst>
              <p:tags r:id="rId2"/>
            </p:custDataLst>
          </p:nvPr>
        </p:nvSpPr>
        <p:spPr>
          <a:xfrm>
            <a:off x="1016000" y="1841500"/>
            <a:ext cx="1016000" cy="1016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4800" b="1" i="0" u="none" strike="noStrike" kern="0" cap="none" spc="0" normalizeH="0" baseline="0" noProof="0">
                <a:ln>
                  <a:noFill/>
                </a:ln>
                <a:solidFill>
                  <a:srgbClr val="22C55E"/>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6" name="AutoShape 6"/>
          <p:cNvSpPr/>
          <p:nvPr>
            <p:custDataLst>
              <p:tags r:id="rId3"/>
            </p:custDataLst>
          </p:nvPr>
        </p:nvSpPr>
        <p:spPr>
          <a:xfrm>
            <a:off x="2159000" y="1905000"/>
            <a:ext cx="3556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zh-CN" altLang="en-US" sz="1800" b="1" i="0" u="none" strike="noStrike" kern="0" cap="none" spc="0" normalizeH="0" baseline="0" noProof="0" dirty="0">
                <a:ln>
                  <a:noFill/>
                </a:ln>
                <a:solidFill>
                  <a:srgbClr val="1F2937"/>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团队介绍</a:t>
            </a:r>
            <a:endParaRPr kumimoji="0" lang="en-US" sz="11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p:txBody>
      </p:sp>
      <p:sp>
        <p:nvSpPr>
          <p:cNvPr id="7" name="AutoShape 7"/>
          <p:cNvSpPr/>
          <p:nvPr>
            <p:custDataLst>
              <p:tags r:id="rId4"/>
            </p:custDataLst>
          </p:nvPr>
        </p:nvSpPr>
        <p:spPr>
          <a:xfrm>
            <a:off x="2159000" y="2413000"/>
            <a:ext cx="3556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200" b="0" i="0" u="none" strike="noStrike" kern="0" cap="none" spc="0" normalizeH="0" baseline="0" noProof="0">
                <a:ln>
                  <a:noFill/>
                </a:ln>
                <a:solidFill>
                  <a:srgbClr val="6B7280"/>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梦想的缔造者，专注于智能卫生管理的创新团队</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8" name="AutoShape 8"/>
          <p:cNvSpPr/>
          <p:nvPr>
            <p:custDataLst>
              <p:tags r:id="rId5"/>
            </p:custDataLst>
          </p:nvPr>
        </p:nvSpPr>
        <p:spPr>
          <a:xfrm>
            <a:off x="762000" y="3302000"/>
            <a:ext cx="5207000" cy="1397000"/>
          </a:xfrm>
          <a:prstGeom prst="roundRect">
            <a:avLst>
              <a:gd name="adj" fmla="val 10909"/>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9" name="AutoShape 9"/>
          <p:cNvSpPr/>
          <p:nvPr>
            <p:custDataLst>
              <p:tags r:id="rId6"/>
            </p:custDataLst>
          </p:nvPr>
        </p:nvSpPr>
        <p:spPr>
          <a:xfrm>
            <a:off x="1016000" y="3492500"/>
            <a:ext cx="1016000" cy="1016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4800" b="1" i="0" u="none" strike="noStrike" kern="0" cap="none" spc="0" normalizeH="0" baseline="0" noProof="0">
                <a:ln>
                  <a:noFill/>
                </a:ln>
                <a:solidFill>
                  <a:srgbClr val="22C55E"/>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0" name="AutoShape 10"/>
          <p:cNvSpPr/>
          <p:nvPr>
            <p:custDataLst>
              <p:tags r:id="rId7"/>
            </p:custDataLst>
          </p:nvPr>
        </p:nvSpPr>
        <p:spPr>
          <a:xfrm>
            <a:off x="2159000" y="3556000"/>
            <a:ext cx="3556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800" b="1" i="0" u="none" strike="noStrike" kern="0" cap="none" spc="0" normalizeH="0" baseline="0" noProof="0">
                <a:ln>
                  <a:noFill/>
                </a:ln>
                <a:solidFill>
                  <a:srgbClr val="1F2937"/>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用户故事</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1" name="AutoShape 11"/>
          <p:cNvSpPr/>
          <p:nvPr>
            <p:custDataLst>
              <p:tags r:id="rId8"/>
            </p:custDataLst>
          </p:nvPr>
        </p:nvSpPr>
        <p:spPr>
          <a:xfrm>
            <a:off x="2159000" y="4064000"/>
            <a:ext cx="3556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200" b="0" i="0" u="none" strike="noStrike" kern="0" cap="none" spc="0" normalizeH="0" baseline="0" noProof="0">
                <a:ln>
                  <a:noFill/>
                </a:ln>
                <a:solidFill>
                  <a:srgbClr val="6B7280"/>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一个健身爱好者的真实一天，发现潜在的卫生隐患</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2" name="AutoShape 12"/>
          <p:cNvSpPr/>
          <p:nvPr>
            <p:custDataLst>
              <p:tags r:id="rId9"/>
            </p:custDataLst>
          </p:nvPr>
        </p:nvSpPr>
        <p:spPr>
          <a:xfrm>
            <a:off x="762000" y="4953000"/>
            <a:ext cx="5207000" cy="1397000"/>
          </a:xfrm>
          <a:prstGeom prst="roundRect">
            <a:avLst>
              <a:gd name="adj" fmla="val 10909"/>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3" name="AutoShape 13"/>
          <p:cNvSpPr/>
          <p:nvPr>
            <p:custDataLst>
              <p:tags r:id="rId10"/>
            </p:custDataLst>
          </p:nvPr>
        </p:nvSpPr>
        <p:spPr>
          <a:xfrm>
            <a:off x="1016000" y="5143500"/>
            <a:ext cx="1016000" cy="1016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4800" b="1" i="0" u="none" strike="noStrike" kern="0" cap="none" spc="0" normalizeH="0" baseline="0" noProof="0">
                <a:ln>
                  <a:noFill/>
                </a:ln>
                <a:solidFill>
                  <a:srgbClr val="22C55E"/>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4" name="AutoShape 14"/>
          <p:cNvSpPr/>
          <p:nvPr>
            <p:custDataLst>
              <p:tags r:id="rId11"/>
            </p:custDataLst>
          </p:nvPr>
        </p:nvSpPr>
        <p:spPr>
          <a:xfrm>
            <a:off x="2159000" y="5207000"/>
            <a:ext cx="3556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zh-CN" altLang="en-US" sz="1800" b="1" i="0" u="none" strike="noStrike" kern="0" cap="none" spc="0" normalizeH="0" baseline="0" noProof="0" dirty="0">
                <a:ln>
                  <a:noFill/>
                </a:ln>
                <a:solidFill>
                  <a:srgbClr val="1F2937"/>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产品介绍</a:t>
            </a:r>
            <a:endParaRPr kumimoji="0" lang="en-US" sz="11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p:txBody>
      </p:sp>
      <p:sp>
        <p:nvSpPr>
          <p:cNvPr id="15" name="AutoShape 15"/>
          <p:cNvSpPr/>
          <p:nvPr>
            <p:custDataLst>
              <p:tags r:id="rId12"/>
            </p:custDataLst>
          </p:nvPr>
        </p:nvSpPr>
        <p:spPr>
          <a:xfrm>
            <a:off x="2159000" y="5715000"/>
            <a:ext cx="3556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zh-CN" altLang="en-US" sz="1200" b="0" i="0" u="none" strike="noStrike" kern="0" cap="none" spc="0" normalizeH="0" baseline="0" noProof="0" dirty="0">
                <a:ln>
                  <a:noFill/>
                </a:ln>
                <a:solidFill>
                  <a:srgbClr val="6B7280"/>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到底是一个什么样的产品呢，核心功能是什么</a:t>
            </a:r>
            <a:endParaRPr kumimoji="0" lang="en-US" sz="11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p:txBody>
      </p:sp>
      <p:sp>
        <p:nvSpPr>
          <p:cNvPr id="16" name="AutoShape 16"/>
          <p:cNvSpPr/>
          <p:nvPr>
            <p:custDataLst>
              <p:tags r:id="rId13"/>
            </p:custDataLst>
          </p:nvPr>
        </p:nvSpPr>
        <p:spPr>
          <a:xfrm>
            <a:off x="6223000" y="1651000"/>
            <a:ext cx="5207000" cy="1397000"/>
          </a:xfrm>
          <a:prstGeom prst="roundRect">
            <a:avLst>
              <a:gd name="adj" fmla="val 10909"/>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7" name="AutoShape 17"/>
          <p:cNvSpPr/>
          <p:nvPr>
            <p:custDataLst>
              <p:tags r:id="rId14"/>
            </p:custDataLst>
          </p:nvPr>
        </p:nvSpPr>
        <p:spPr>
          <a:xfrm>
            <a:off x="6477000" y="1841500"/>
            <a:ext cx="1016000" cy="1016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4800" b="1" i="0" u="none" strike="noStrike" kern="0" cap="none" spc="0" normalizeH="0" baseline="0" noProof="0">
                <a:ln>
                  <a:noFill/>
                </a:ln>
                <a:solidFill>
                  <a:srgbClr val="22C55E"/>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8" name="AutoShape 18"/>
          <p:cNvSpPr/>
          <p:nvPr>
            <p:custDataLst>
              <p:tags r:id="rId15"/>
            </p:custDataLst>
          </p:nvPr>
        </p:nvSpPr>
        <p:spPr>
          <a:xfrm>
            <a:off x="7620000" y="1905000"/>
            <a:ext cx="3556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zh-CN" altLang="en-US" sz="1800" b="1" i="0" u="none" strike="noStrike" kern="0" cap="none" spc="0" normalizeH="0" baseline="0" noProof="0" dirty="0">
                <a:ln>
                  <a:noFill/>
                </a:ln>
                <a:solidFill>
                  <a:srgbClr val="1F2937"/>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商业模式</a:t>
            </a:r>
            <a:endParaRPr kumimoji="0" lang="en-US" sz="11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p:txBody>
      </p:sp>
      <p:sp>
        <p:nvSpPr>
          <p:cNvPr id="19" name="AutoShape 19"/>
          <p:cNvSpPr/>
          <p:nvPr>
            <p:custDataLst>
              <p:tags r:id="rId16"/>
            </p:custDataLst>
          </p:nvPr>
        </p:nvSpPr>
        <p:spPr>
          <a:xfrm>
            <a:off x="7620000" y="2413000"/>
            <a:ext cx="3556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zh-CN" altLang="en-US" sz="1200" b="0" i="0" u="none" strike="noStrike" kern="0" cap="none" spc="0" normalizeH="0" baseline="0" noProof="0" dirty="0">
                <a:ln>
                  <a:noFill/>
                </a:ln>
                <a:solidFill>
                  <a:srgbClr val="6B7280"/>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方案并非空想，而是基于真是的用户调研</a:t>
            </a:r>
            <a:endParaRPr kumimoji="0" lang="en-US" sz="11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p:txBody>
      </p:sp>
      <p:sp>
        <p:nvSpPr>
          <p:cNvPr id="20" name="AutoShape 20"/>
          <p:cNvSpPr/>
          <p:nvPr>
            <p:custDataLst>
              <p:tags r:id="rId17"/>
            </p:custDataLst>
          </p:nvPr>
        </p:nvSpPr>
        <p:spPr>
          <a:xfrm>
            <a:off x="6223000" y="3302000"/>
            <a:ext cx="5207000" cy="1397000"/>
          </a:xfrm>
          <a:prstGeom prst="roundRect">
            <a:avLst>
              <a:gd name="adj" fmla="val 10909"/>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1" name="AutoShape 21"/>
          <p:cNvSpPr/>
          <p:nvPr>
            <p:custDataLst>
              <p:tags r:id="rId18"/>
            </p:custDataLst>
          </p:nvPr>
        </p:nvSpPr>
        <p:spPr>
          <a:xfrm>
            <a:off x="6477000" y="3492500"/>
            <a:ext cx="1016000" cy="1016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4800" b="1" i="0" u="none" strike="noStrike" kern="0" cap="none" spc="0" normalizeH="0" baseline="0" noProof="0">
                <a:ln>
                  <a:noFill/>
                </a:ln>
                <a:solidFill>
                  <a:srgbClr val="22C55E"/>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2" name="AutoShape 22"/>
          <p:cNvSpPr/>
          <p:nvPr>
            <p:custDataLst>
              <p:tags r:id="rId19"/>
            </p:custDataLst>
          </p:nvPr>
        </p:nvSpPr>
        <p:spPr>
          <a:xfrm>
            <a:off x="7620000" y="3556000"/>
            <a:ext cx="3556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lang="zh-CN" altLang="en-US" sz="1800" b="1" dirty="0">
                <a:solidFill>
                  <a:srgbClr val="1F2937"/>
                </a:solidFill>
                <a:latin typeface="Noto Sans SC" panose="020B0200000000000000" charset="-122"/>
                <a:ea typeface="Noto Sans SC" panose="020B0200000000000000" charset="-122"/>
                <a:sym typeface="Noto Sans SC" panose="020B0200000000000000" charset="-122"/>
              </a:rPr>
              <a:t>升华展望</a:t>
            </a:r>
            <a:endParaRPr kumimoji="0" lang="en-US" sz="11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p:txBody>
      </p:sp>
      <p:sp>
        <p:nvSpPr>
          <p:cNvPr id="23" name="AutoShape 23"/>
          <p:cNvSpPr/>
          <p:nvPr/>
        </p:nvSpPr>
        <p:spPr>
          <a:xfrm>
            <a:off x="7620000" y="4064000"/>
            <a:ext cx="3556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endParaRPr kumimoji="0" lang="en-US" sz="11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p:txBody>
      </p:sp>
      <p:sp>
        <p:nvSpPr>
          <p:cNvPr id="24" name="AutoShape 19"/>
          <p:cNvSpPr/>
          <p:nvPr>
            <p:custDataLst>
              <p:tags r:id="rId20"/>
            </p:custDataLst>
          </p:nvPr>
        </p:nvSpPr>
        <p:spPr>
          <a:xfrm>
            <a:off x="7683500" y="4000500"/>
            <a:ext cx="3556000" cy="381000"/>
          </a:xfrm>
          <a:prstGeom prst="rect">
            <a:avLst/>
          </a:prstGeom>
          <a:noFill/>
          <a:ln w="12700" cap="flat" cmpd="sng">
            <a:noFill/>
            <a:prstDash val="solid"/>
            <a:round/>
          </a:ln>
        </p:spPr>
        <p:txBody>
          <a:bodyPr vert="horz" wrap="square" lIns="0" tIns="0" rIns="0" bIns="0" rtlCol="0" anchor="ctr" anchorCtr="0"/>
          <a:lstStyle/>
          <a:p>
            <a:pPr lvl="0">
              <a:lnSpc>
                <a:spcPct val="125000"/>
              </a:lnSpc>
              <a:defRPr/>
            </a:pPr>
            <a:r>
              <a:rPr lang="en-US" altLang="zh-CN" sz="1200"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构建中国健身房的“卫生信用地图</a:t>
            </a:r>
            <a:r>
              <a:rPr lang="en-US" altLang="zh-CN" sz="1200"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altLang="zh-CN"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AutoShape 3"/>
          <p:cNvSpPr/>
          <p:nvPr/>
        </p:nvSpPr>
        <p:spPr>
          <a:xfrm>
            <a:off x="0" y="1524000"/>
            <a:ext cx="12192000" cy="16510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2000" b="1" i="0" u="none" strike="noStrike" kern="0" cap="none" spc="0" normalizeH="0" baseline="0" noProof="0">
                <a:ln>
                  <a:noFill/>
                </a:ln>
                <a:solidFill>
                  <a:srgbClr val="22C55E"/>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 name="AutoShape 4"/>
          <p:cNvSpPr/>
          <p:nvPr/>
        </p:nvSpPr>
        <p:spPr>
          <a:xfrm>
            <a:off x="0" y="3429000"/>
            <a:ext cx="12192000" cy="7620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zh-CN" altLang="en-US" sz="4000" b="1" i="0" u="none" strike="noStrike" kern="0" cap="none" spc="0" normalizeH="0" baseline="0" noProof="0" dirty="0">
                <a:ln>
                  <a:noFill/>
                </a:ln>
                <a:solidFill>
                  <a:srgbClr val="1F2937"/>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团队介绍</a:t>
            </a:r>
            <a:endParaRPr kumimoji="0" lang="en-US" sz="11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p:txBody>
      </p:sp>
      <p:sp>
        <p:nvSpPr>
          <p:cNvPr id="5" name="AutoShape 5"/>
          <p:cNvSpPr/>
          <p:nvPr/>
        </p:nvSpPr>
        <p:spPr>
          <a:xfrm>
            <a:off x="5588000" y="4445000"/>
            <a:ext cx="1016000" cy="76200"/>
          </a:xfrm>
          <a:prstGeom prst="roundRect">
            <a:avLst>
              <a:gd name="adj" fmla="val 50000"/>
            </a:avLst>
          </a:prstGeom>
          <a:solidFill>
            <a:srgbClr val="22C55E">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6" name="AutoShape 6"/>
          <p:cNvSpPr/>
          <p:nvPr/>
        </p:nvSpPr>
        <p:spPr>
          <a:xfrm>
            <a:off x="0" y="4953000"/>
            <a:ext cx="12192000" cy="5080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2200" b="0" i="0" u="none" strike="noStrike" kern="0" cap="none" spc="0" normalizeH="0" baseline="0" noProof="0">
                <a:ln>
                  <a:noFill/>
                </a:ln>
                <a:solidFill>
                  <a:srgbClr val="6B7280"/>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梦想的缔造者</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27767"/>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团队介绍</a:t>
            </a:r>
            <a:endParaRPr lang="en-US" sz="1100" dirty="0"/>
          </a:p>
        </p:txBody>
      </p:sp>
      <p:pic>
        <p:nvPicPr>
          <p:cNvPr id="12" name="图片 11"/>
          <p:cNvPicPr>
            <a:picLocks noChangeAspect="1"/>
          </p:cNvPicPr>
          <p:nvPr>
            <p:custDataLst>
              <p:tags r:id="rId1"/>
            </p:custDataLst>
          </p:nvPr>
        </p:nvPicPr>
        <p:blipFill>
          <a:blip r:embed="rId12"/>
          <a:stretch>
            <a:fillRect/>
          </a:stretch>
        </p:blipFill>
        <p:spPr>
          <a:xfrm>
            <a:off x="1441361" y="2198533"/>
            <a:ext cx="2551824" cy="3403763"/>
          </a:xfrm>
          <a:prstGeom prst="rect">
            <a:avLst/>
          </a:prstGeom>
          <a:effectLst>
            <a:reflection blurRad="127000" stA="40000" endPos="20000" dir="5400000" sy="-100000" algn="bl" rotWithShape="0"/>
          </a:effectLst>
          <a:scene3d>
            <a:camera prst="perspectiveRight" fov="5400000"/>
            <a:lightRig rig="threePt" dir="t"/>
          </a:scene3d>
        </p:spPr>
      </p:pic>
      <p:pic>
        <p:nvPicPr>
          <p:cNvPr id="16" name="图片 15"/>
          <p:cNvPicPr>
            <a:picLocks noChangeAspect="1"/>
          </p:cNvPicPr>
          <p:nvPr>
            <p:custDataLst>
              <p:tags r:id="rId2"/>
            </p:custDataLst>
          </p:nvPr>
        </p:nvPicPr>
        <p:blipFill>
          <a:blip r:embed="rId13"/>
          <a:stretch>
            <a:fillRect/>
          </a:stretch>
        </p:blipFill>
        <p:spPr>
          <a:xfrm>
            <a:off x="8322640" y="2147611"/>
            <a:ext cx="2691909" cy="3403764"/>
          </a:xfrm>
          <a:prstGeom prst="rect">
            <a:avLst/>
          </a:prstGeom>
          <a:effectLst>
            <a:reflection blurRad="127000" stA="40000" endPos="20000" dir="5400000" sy="-100000" algn="bl" rotWithShape="0"/>
          </a:effectLst>
          <a:scene3d>
            <a:camera prst="perspectiveRight" fov="5400000">
              <a:rot lat="0" lon="1200000" rev="0"/>
            </a:camera>
            <a:lightRig rig="threePt" dir="t"/>
          </a:scene3d>
        </p:spPr>
      </p:pic>
      <p:sp>
        <p:nvSpPr>
          <p:cNvPr id="18" name="AutoShape 7"/>
          <p:cNvSpPr/>
          <p:nvPr/>
        </p:nvSpPr>
        <p:spPr>
          <a:xfrm>
            <a:off x="3248025" y="1435506"/>
            <a:ext cx="5695950" cy="611981"/>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3600" b="1" i="0" u="none" strike="noStrike" kern="0" cap="none" spc="0" normalizeH="0" baseline="0" noProof="0" dirty="0">
                <a:ln>
                  <a:noFill/>
                </a:ln>
                <a:solidFill>
                  <a:srgbClr val="10B98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Heal the </a:t>
            </a:r>
            <a:r>
              <a:rPr kumimoji="0" lang="en-US" sz="3600" b="1" i="0" u="none" strike="noStrike" kern="0" cap="none" spc="0" normalizeH="0" baseline="0" noProof="0" dirty="0" err="1">
                <a:ln>
                  <a:noFill/>
                </a:ln>
                <a:solidFill>
                  <a:srgbClr val="10B98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world </a:t>
            </a:r>
            <a:r>
              <a:rPr kumimoji="0" lang="en-US" sz="2600" b="1" i="0" u="none" strike="noStrike" kern="0" cap="none" spc="0" normalizeH="0" baseline="0" noProof="0" dirty="0" err="1">
                <a:ln>
                  <a:noFill/>
                </a:ln>
                <a:solidFill>
                  <a:srgbClr val="37415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团队</a:t>
            </a:r>
            <a:endParaRPr kumimoji="0" lang="en-US" sz="11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p:txBody>
      </p:sp>
      <p:sp>
        <p:nvSpPr>
          <p:cNvPr id="20" name="文本框 19"/>
          <p:cNvSpPr txBox="1"/>
          <p:nvPr>
            <p:custDataLst>
              <p:tags r:id="rId3"/>
            </p:custDataLst>
          </p:nvPr>
        </p:nvSpPr>
        <p:spPr>
          <a:xfrm>
            <a:off x="8918427" y="5651500"/>
            <a:ext cx="6096000" cy="400110"/>
          </a:xfrm>
          <a:prstGeom prst="rect">
            <a:avLst/>
          </a:prstGeom>
          <a:noFill/>
        </p:spPr>
        <p:txBody>
          <a:bodyPr wrap="square">
            <a:spAutoFit/>
          </a:bodyPr>
          <a:lstStyle/>
          <a:p>
            <a:r>
              <a:rPr lang="en-US" altLang="zh-CN" sz="2000" b="1" dirty="0" err="1">
                <a:solidFill>
                  <a:schemeClr val="tx1"/>
                </a:solidFill>
                <a:latin typeface="Noto Sans SC" panose="020B0200000000000000" charset="-122"/>
                <a:ea typeface="Noto Sans SC" panose="020B0200000000000000" charset="-122"/>
                <a:sym typeface="Noto Sans SC" panose="020B0200000000000000" charset="-122"/>
              </a:rPr>
              <a:t>任佳蒙</a:t>
            </a:r>
            <a:endParaRPr lang="zh-CN" altLang="en-US" sz="2000" b="1" dirty="0">
              <a:solidFill>
                <a:schemeClr val="tx1"/>
              </a:solidFill>
              <a:latin typeface="Noto Sans SC" panose="020B0200000000000000" charset="-122"/>
              <a:ea typeface="Noto Sans SC" panose="020B0200000000000000" charset="-122"/>
            </a:endParaRPr>
          </a:p>
        </p:txBody>
      </p:sp>
      <p:sp>
        <p:nvSpPr>
          <p:cNvPr id="22" name="文本框 21"/>
          <p:cNvSpPr txBox="1"/>
          <p:nvPr>
            <p:custDataLst>
              <p:tags r:id="rId4"/>
            </p:custDataLst>
          </p:nvPr>
        </p:nvSpPr>
        <p:spPr>
          <a:xfrm>
            <a:off x="2222824" y="5651500"/>
            <a:ext cx="1160456" cy="400110"/>
          </a:xfrm>
          <a:prstGeom prst="rect">
            <a:avLst/>
          </a:prstGeom>
          <a:noFill/>
        </p:spPr>
        <p:txBody>
          <a:bodyPr wrap="square">
            <a:spAutoFit/>
          </a:bodyPr>
          <a:lstStyle/>
          <a:p>
            <a:r>
              <a:rPr kumimoji="0" lang="en-US" altLang="zh-CN" sz="2000" b="1" i="0" u="none" strike="noStrike" kern="0" cap="none" spc="0" normalizeH="0" baseline="0" noProof="0" dirty="0" err="1">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李璐羽</a:t>
            </a:r>
            <a:endParaRPr lang="zh-CN" altLang="en-US" sz="2000" dirty="0">
              <a:solidFill>
                <a:schemeClr val="tx1"/>
              </a:solidFill>
            </a:endParaRPr>
          </a:p>
        </p:txBody>
      </p:sp>
      <p:sp>
        <p:nvSpPr>
          <p:cNvPr id="24" name="文本框 23"/>
          <p:cNvSpPr txBox="1"/>
          <p:nvPr>
            <p:custDataLst>
              <p:tags r:id="rId5"/>
            </p:custDataLst>
          </p:nvPr>
        </p:nvSpPr>
        <p:spPr>
          <a:xfrm>
            <a:off x="5557520" y="5651500"/>
            <a:ext cx="1076960" cy="400110"/>
          </a:xfrm>
          <a:prstGeom prst="rect">
            <a:avLst/>
          </a:prstGeom>
          <a:noFill/>
        </p:spPr>
        <p:txBody>
          <a:bodyPr wrap="square">
            <a:spAutoFit/>
          </a:bodyPr>
          <a:lstStyle/>
          <a:p>
            <a:r>
              <a:rPr lang="en-US" altLang="zh-CN" sz="2000" b="1" dirty="0" err="1">
                <a:solidFill>
                  <a:schemeClr val="tx1"/>
                </a:solidFill>
                <a:latin typeface="Noto Sans SC" panose="020B0200000000000000" charset="-122"/>
                <a:ea typeface="Noto Sans SC" panose="020B0200000000000000" charset="-122"/>
                <a:sym typeface="Noto Sans SC" panose="020B0200000000000000" charset="-122"/>
              </a:rPr>
              <a:t>张坚强</a:t>
            </a:r>
            <a:endParaRPr lang="zh-CN" altLang="en-US" sz="2000" b="1" dirty="0">
              <a:solidFill>
                <a:schemeClr val="tx1"/>
              </a:solidFill>
              <a:latin typeface="Noto Sans SC" panose="020B0200000000000000" charset="-122"/>
              <a:ea typeface="Noto Sans SC" panose="020B0200000000000000" charset="-122"/>
            </a:endParaRPr>
          </a:p>
        </p:txBody>
      </p:sp>
      <p:sp>
        <p:nvSpPr>
          <p:cNvPr id="4" name="文本框 3"/>
          <p:cNvSpPr txBox="1"/>
          <p:nvPr>
            <p:custDataLst>
              <p:tags r:id="rId6"/>
            </p:custDataLst>
          </p:nvPr>
        </p:nvSpPr>
        <p:spPr>
          <a:xfrm>
            <a:off x="4797425" y="6051550"/>
            <a:ext cx="2429510" cy="306705"/>
          </a:xfrm>
          <a:prstGeom prst="rect">
            <a:avLst/>
          </a:prstGeom>
          <a:noFill/>
        </p:spPr>
        <p:txBody>
          <a:bodyPr wrap="square" rtlCol="0">
            <a:spAutoFit/>
          </a:bodyPr>
          <a:lstStyle/>
          <a:p>
            <a:pPr algn="ctr"/>
            <a:r>
              <a:rPr lang="en-US" altLang="zh-CN">
                <a:solidFill>
                  <a:schemeClr val="tx1"/>
                </a:solidFill>
                <a:latin typeface="Noto Sans SC" panose="020B0200000000000000" charset="-122"/>
                <a:ea typeface="Noto Sans SC" panose="020B0200000000000000" charset="-122"/>
                <a:cs typeface="Noto Sans SC" panose="020B0200000000000000" charset="-122"/>
              </a:rPr>
              <a:t>6</a:t>
            </a:r>
            <a:r>
              <a:rPr lang="zh-CN" altLang="en-US">
                <a:solidFill>
                  <a:schemeClr val="tx1"/>
                </a:solidFill>
                <a:latin typeface="Noto Sans SC" panose="020B0200000000000000" charset="-122"/>
                <a:ea typeface="Noto Sans SC" panose="020B0200000000000000" charset="-122"/>
                <a:cs typeface="Noto Sans SC" panose="020B0200000000000000" charset="-122"/>
              </a:rPr>
              <a:t>年公益行业从业者</a:t>
            </a:r>
          </a:p>
        </p:txBody>
      </p:sp>
      <p:pic>
        <p:nvPicPr>
          <p:cNvPr id="5" name="图片 4"/>
          <p:cNvPicPr>
            <a:picLocks noChangeAspect="1"/>
          </p:cNvPicPr>
          <p:nvPr/>
        </p:nvPicPr>
        <p:blipFill>
          <a:blip r:embed="rId14"/>
          <a:srcRect l="36581" t="35241" r="9473" b="4046"/>
          <a:stretch>
            <a:fillRect/>
          </a:stretch>
        </p:blipFill>
        <p:spPr>
          <a:xfrm>
            <a:off x="5088890" y="2385060"/>
            <a:ext cx="2138045" cy="3210560"/>
          </a:xfrm>
          <a:prstGeom prst="rect">
            <a:avLst/>
          </a:prstGeom>
        </p:spPr>
      </p:pic>
      <p:sp>
        <p:nvSpPr>
          <p:cNvPr id="6" name="文本框 5"/>
          <p:cNvSpPr txBox="1"/>
          <p:nvPr>
            <p:custDataLst>
              <p:tags r:id="rId7"/>
            </p:custDataLst>
          </p:nvPr>
        </p:nvSpPr>
        <p:spPr>
          <a:xfrm>
            <a:off x="8041640" y="6051550"/>
            <a:ext cx="2429510" cy="306705"/>
          </a:xfrm>
          <a:prstGeom prst="rect">
            <a:avLst/>
          </a:prstGeom>
          <a:noFill/>
        </p:spPr>
        <p:txBody>
          <a:bodyPr wrap="square" rtlCol="0">
            <a:spAutoFit/>
          </a:bodyPr>
          <a:lstStyle/>
          <a:p>
            <a:pPr algn="ctr"/>
            <a:r>
              <a:rPr lang="zh-CN" altLang="en-US">
                <a:solidFill>
                  <a:schemeClr val="tx1"/>
                </a:solidFill>
                <a:latin typeface="Noto Sans SC" panose="020B0200000000000000" charset="-122"/>
                <a:ea typeface="Noto Sans SC" panose="020B0200000000000000" charset="-122"/>
                <a:cs typeface="Noto Sans SC" panose="020B0200000000000000" charset="-122"/>
              </a:rPr>
              <a:t>坚持自我迭代的长期主义者</a:t>
            </a:r>
          </a:p>
        </p:txBody>
      </p:sp>
      <p:sp>
        <p:nvSpPr>
          <p:cNvPr id="7" name="文本框 6"/>
          <p:cNvSpPr txBox="1"/>
          <p:nvPr>
            <p:custDataLst>
              <p:tags r:id="rId8"/>
            </p:custDataLst>
          </p:nvPr>
        </p:nvSpPr>
        <p:spPr>
          <a:xfrm>
            <a:off x="1502410" y="6051550"/>
            <a:ext cx="2429510" cy="306705"/>
          </a:xfrm>
          <a:prstGeom prst="rect">
            <a:avLst/>
          </a:prstGeom>
          <a:noFill/>
        </p:spPr>
        <p:txBody>
          <a:bodyPr wrap="square" rtlCol="0">
            <a:spAutoFit/>
          </a:bodyPr>
          <a:lstStyle/>
          <a:p>
            <a:pPr algn="ctr"/>
            <a:r>
              <a:rPr lang="zh-CN" altLang="en-US">
                <a:solidFill>
                  <a:schemeClr val="tx1"/>
                </a:solidFill>
                <a:latin typeface="Noto Sans SC" panose="020B0200000000000000" charset="-122"/>
                <a:ea typeface="Noto Sans SC" panose="020B0200000000000000" charset="-122"/>
                <a:cs typeface="Noto Sans SC" panose="020B0200000000000000" charset="-122"/>
              </a:rPr>
              <a:t>用心传递温度的行动派</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AutoShape 3"/>
          <p:cNvSpPr/>
          <p:nvPr/>
        </p:nvSpPr>
        <p:spPr>
          <a:xfrm>
            <a:off x="0" y="1905000"/>
            <a:ext cx="12192000" cy="15240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0000" b="1" i="0" u="none" strike="noStrike" kern="0" cap="none" spc="0" normalizeH="0" baseline="0" noProof="0">
                <a:ln>
                  <a:noFill/>
                </a:ln>
                <a:solidFill>
                  <a:srgbClr val="22C55E"/>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 name="AutoShape 4"/>
          <p:cNvSpPr/>
          <p:nvPr/>
        </p:nvSpPr>
        <p:spPr>
          <a:xfrm>
            <a:off x="0" y="3683000"/>
            <a:ext cx="12192000" cy="7620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4000" b="1" i="0" u="none" strike="noStrike" kern="0" cap="none" spc="0" normalizeH="0" baseline="0" noProof="0">
                <a:ln>
                  <a:noFill/>
                </a:ln>
                <a:solidFill>
                  <a:srgbClr val="1F2937"/>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用户故事</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5" name="AutoShape 5"/>
          <p:cNvSpPr/>
          <p:nvPr/>
        </p:nvSpPr>
        <p:spPr>
          <a:xfrm>
            <a:off x="0" y="4699000"/>
            <a:ext cx="12192000" cy="5080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2000" b="0" i="0" u="none" strike="noStrike" kern="0" cap="none" spc="200" normalizeH="0" baseline="0" noProof="0">
                <a:ln>
                  <a:noFill/>
                </a:ln>
                <a:solidFill>
                  <a:srgbClr val="6B7280"/>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一个健身爱好者的真实一天</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539750" y="219583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用户故事：被“恶心感”浇灭的健身欲</a:t>
            </a:r>
            <a:endParaRPr lang="en-US" sz="1100"/>
          </a:p>
        </p:txBody>
      </p:sp>
      <p:sp>
        <p:nvSpPr>
          <p:cNvPr id="4" name="AutoShape 4"/>
          <p:cNvSpPr/>
          <p:nvPr/>
        </p:nvSpPr>
        <p:spPr>
          <a:xfrm>
            <a:off x="762000" y="1651000"/>
            <a:ext cx="5080000" cy="1651000"/>
          </a:xfrm>
          <a:prstGeom prst="roundRect">
            <a:avLst>
              <a:gd name="adj" fmla="val 9230"/>
            </a:avLst>
          </a:prstGeom>
          <a:solidFill>
            <a:srgbClr val="FFFFFF">
              <a:alpha val="9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651000"/>
            <a:ext cx="5080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968500"/>
            <a:ext cx="45720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小Lin，一位追求品质、训练严谨的中高端健身会员。极度在意训练环境的洁净程度</a:t>
            </a:r>
            <a:r>
              <a:rPr lang="en-US"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200" dirty="0"/>
          </a:p>
        </p:txBody>
      </p:sp>
      <p:sp>
        <p:nvSpPr>
          <p:cNvPr id="7" name="AutoShape 7"/>
          <p:cNvSpPr/>
          <p:nvPr/>
        </p:nvSpPr>
        <p:spPr>
          <a:xfrm>
            <a:off x="762000" y="3683000"/>
            <a:ext cx="5080000" cy="2032000"/>
          </a:xfrm>
          <a:prstGeom prst="roundRect">
            <a:avLst>
              <a:gd name="adj" fmla="val 7500"/>
            </a:avLst>
          </a:prstGeom>
          <a:solidFill>
            <a:srgbClr val="FFFFFF">
              <a:alpha val="9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8" name="AutoShape 8"/>
          <p:cNvSpPr/>
          <p:nvPr/>
        </p:nvSpPr>
        <p:spPr>
          <a:xfrm>
            <a:off x="762000" y="3683000"/>
            <a:ext cx="5080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016000" y="4000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  痛点时刻 · STORY</a:t>
            </a:r>
            <a:endParaRPr lang="en-US" sz="1100"/>
          </a:p>
        </p:txBody>
      </p:sp>
      <p:sp>
        <p:nvSpPr>
          <p:cNvPr id="10" name="AutoShape 10"/>
          <p:cNvSpPr/>
          <p:nvPr/>
        </p:nvSpPr>
        <p:spPr>
          <a:xfrm>
            <a:off x="1016000" y="4318000"/>
            <a:ext cx="4572000" cy="128725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刚完成一组力竭的深蹲，准备进行上斜卧推。走向器械的瞬间，却看到凳面上残留着前人湿冷的汗渍。那一刻，瞬间被一种强烈的生理“恶心感”彻底浇灭。</a:t>
            </a:r>
            <a:endParaRPr lang="en-US" sz="1200" dirty="0"/>
          </a:p>
        </p:txBody>
      </p:sp>
      <p:sp>
        <p:nvSpPr>
          <p:cNvPr id="11" name="AutoShape 11"/>
          <p:cNvSpPr/>
          <p:nvPr/>
        </p:nvSpPr>
        <p:spPr>
          <a:xfrm>
            <a:off x="6096000" y="1651000"/>
            <a:ext cx="5080000" cy="4064000"/>
          </a:xfrm>
          <a:prstGeom prst="roundRect">
            <a:avLst>
              <a:gd name="adj" fmla="val 5000"/>
            </a:avLst>
          </a:prstGeom>
          <a:solidFill>
            <a:srgbClr val="FFFFFF">
              <a:alpha val="95000"/>
            </a:srgbClr>
          </a:solidFill>
          <a:ln w="25400" cap="flat" cmpd="sng">
            <a:noFill/>
            <a:prstDash val="solid"/>
            <a:round/>
          </a:ln>
          <a:effectLst>
            <a:outerShdw blurRad="254000" dist="101600" dir="2700000" algn="tl" rotWithShape="0">
              <a:srgbClr val="000000">
                <a:alpha val="15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6350000" y="4572000"/>
            <a:ext cx="457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2000" b="1"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体验破坏因子：残留汗渍</a:t>
            </a:r>
            <a:endParaRPr lang="en-US" sz="1100" dirty="0"/>
          </a:p>
        </p:txBody>
      </p:sp>
      <p:sp>
        <p:nvSpPr>
          <p:cNvPr id="15" name="AutoShape 15"/>
          <p:cNvSpPr/>
          <p:nvPr/>
        </p:nvSpPr>
        <p:spPr>
          <a:xfrm>
            <a:off x="6511925" y="4892675"/>
            <a:ext cx="457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从期待训练到瞬间劝退的隐形杀手</a:t>
            </a:r>
            <a:endParaRPr lang="en-US" sz="1100" dirty="0"/>
          </a:p>
        </p:txBody>
      </p:sp>
      <p:pic>
        <p:nvPicPr>
          <p:cNvPr id="16" name="图片 15"/>
          <p:cNvPicPr/>
          <p:nvPr/>
        </p:nvPicPr>
        <p:blipFill>
          <a:blip r:embed="rId5"/>
          <a:stretch>
            <a:fillRect/>
          </a:stretch>
        </p:blipFill>
        <p:spPr>
          <a:xfrm>
            <a:off x="6789420" y="1968500"/>
            <a:ext cx="1807210" cy="2688590"/>
          </a:xfrm>
          <a:prstGeom prst="rect">
            <a:avLst/>
          </a:prstGeom>
        </p:spPr>
      </p:pic>
      <p:pic>
        <p:nvPicPr>
          <p:cNvPr id="17" name="图片 16"/>
          <p:cNvPicPr/>
          <p:nvPr/>
        </p:nvPicPr>
        <p:blipFill>
          <a:blip r:embed="rId6"/>
          <a:srcRect r="22830"/>
          <a:stretch>
            <a:fillRect/>
          </a:stretch>
        </p:blipFill>
        <p:spPr>
          <a:xfrm>
            <a:off x="8557895" y="1968500"/>
            <a:ext cx="2020570" cy="2688590"/>
          </a:xfrm>
          <a:prstGeom prst="rect">
            <a:avLst/>
          </a:prstGeom>
        </p:spPr>
      </p:pic>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51165" y="2309495"/>
            <a:ext cx="1096010" cy="1096010"/>
          </a:xfrm>
          <a:prstGeom prst="rect">
            <a:avLst/>
          </a:prstGeom>
        </p:spPr>
      </p:pic>
      <p:sp>
        <p:nvSpPr>
          <p:cNvPr id="20" name="AutoShape 9"/>
          <p:cNvSpPr/>
          <p:nvPr/>
        </p:nvSpPr>
        <p:spPr>
          <a:xfrm>
            <a:off x="1328420" y="1876425"/>
            <a:ext cx="425958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用户画像</a:t>
            </a:r>
            <a:endParaRPr lang="en-US" sz="1100"/>
          </a:p>
        </p:txBody>
      </p:sp>
      <p:pic>
        <p:nvPicPr>
          <p:cNvPr id="21" name="图片 20" descr="人物放大"/>
          <p:cNvPicPr>
            <a:picLocks noChangeAspect="1"/>
          </p:cNvPicPr>
          <p:nvPr>
            <p:custDataLst>
              <p:tags r:id="rId1"/>
            </p:custDataLst>
          </p:nvPr>
        </p:nvPicPr>
        <p:blipFill>
          <a:blip>
            <a:extLst>
              <a:ext uri="{96DAC541-7B7A-43D3-8B79-37D633B846F1}">
                <asvg:svgBlip xmlns:asvg="http://schemas.microsoft.com/office/drawing/2016/SVG/main" r:embed="rId8"/>
              </a:ext>
            </a:extLst>
          </a:blip>
          <a:stretch>
            <a:fillRect/>
          </a:stretch>
        </p:blipFill>
        <p:spPr>
          <a:xfrm>
            <a:off x="1075055" y="1942465"/>
            <a:ext cx="253365" cy="2533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痛点洞察：用户与管理者的双重困境</a:t>
            </a:r>
            <a:endParaRPr lang="en-US" sz="1100"/>
          </a:p>
        </p:txBody>
      </p:sp>
      <p:sp>
        <p:nvSpPr>
          <p:cNvPr id="4" name="AutoShape 4"/>
          <p:cNvSpPr/>
          <p:nvPr/>
        </p:nvSpPr>
        <p:spPr>
          <a:xfrm>
            <a:off x="762000" y="1524000"/>
            <a:ext cx="5207000" cy="4699000"/>
          </a:xfrm>
          <a:prstGeom prst="roundRect">
            <a:avLst>
              <a:gd name="adj" fmla="val 3243"/>
            </a:avLst>
          </a:prstGeom>
          <a:solidFill>
            <a:srgbClr val="FFFFFF">
              <a:alpha val="95000"/>
            </a:srgbClr>
          </a:solidFill>
          <a:ln w="25400" cap="flat" cmpd="sng">
            <a:noFill/>
            <a:prstDash val="solid"/>
            <a:round/>
          </a:ln>
          <a:effectLst>
            <a:outerShdw blurRad="254000" dist="635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9500" y="1778000"/>
            <a:ext cx="457200" cy="457200"/>
          </a:xfrm>
          <a:prstGeom prst="rect">
            <a:avLst/>
          </a:prstGeom>
        </p:spPr>
      </p:pic>
      <p:sp>
        <p:nvSpPr>
          <p:cNvPr id="6" name="AutoShape 6"/>
          <p:cNvSpPr/>
          <p:nvPr/>
        </p:nvSpPr>
        <p:spPr>
          <a:xfrm>
            <a:off x="1778000" y="1803400"/>
            <a:ext cx="3810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用户视角：体验受阻</a:t>
            </a:r>
            <a:endParaRPr lang="en-US" sz="1100"/>
          </a:p>
        </p:txBody>
      </p:sp>
      <p:sp>
        <p:nvSpPr>
          <p:cNvPr id="7" name="AutoShape 7"/>
          <p:cNvSpPr/>
          <p:nvPr/>
        </p:nvSpPr>
        <p:spPr>
          <a:xfrm>
            <a:off x="1016000" y="2540000"/>
            <a:ext cx="4699000" cy="1079500"/>
          </a:xfrm>
          <a:prstGeom prst="roundRect">
            <a:avLst>
              <a:gd name="adj" fmla="val 9411"/>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0000" y="2794000"/>
            <a:ext cx="508000" cy="508000"/>
          </a:xfrm>
          <a:prstGeom prst="rect">
            <a:avLst/>
          </a:prstGeom>
        </p:spPr>
      </p:pic>
      <p:sp>
        <p:nvSpPr>
          <p:cNvPr id="9" name="AutoShape 9"/>
          <p:cNvSpPr/>
          <p:nvPr/>
        </p:nvSpPr>
        <p:spPr>
          <a:xfrm>
            <a:off x="2032000" y="2667000"/>
            <a:ext cx="3556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器械汗渍残留</a:t>
            </a:r>
            <a:endParaRPr lang="en-US" sz="1100"/>
          </a:p>
        </p:txBody>
      </p:sp>
      <p:sp>
        <p:nvSpPr>
          <p:cNvPr id="10" name="AutoShape 10"/>
          <p:cNvSpPr/>
          <p:nvPr/>
        </p:nvSpPr>
        <p:spPr>
          <a:xfrm>
            <a:off x="2032000" y="30734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影响核心健身体验，且表面细菌滋生存在明显卫生安全隐患。</a:t>
            </a:r>
            <a:endParaRPr lang="en-US" sz="1100"/>
          </a:p>
        </p:txBody>
      </p:sp>
      <p:sp>
        <p:nvSpPr>
          <p:cNvPr id="11" name="AutoShape 11"/>
          <p:cNvSpPr/>
          <p:nvPr/>
        </p:nvSpPr>
        <p:spPr>
          <a:xfrm>
            <a:off x="1016000" y="3746500"/>
            <a:ext cx="4699000" cy="1079500"/>
          </a:xfrm>
          <a:prstGeom prst="roundRect">
            <a:avLst>
              <a:gd name="adj" fmla="val 9411"/>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70000" y="4000500"/>
            <a:ext cx="508000" cy="508000"/>
          </a:xfrm>
          <a:prstGeom prst="rect">
            <a:avLst/>
          </a:prstGeom>
        </p:spPr>
      </p:pic>
      <p:sp>
        <p:nvSpPr>
          <p:cNvPr id="13" name="AutoShape 13"/>
          <p:cNvSpPr/>
          <p:nvPr/>
        </p:nvSpPr>
        <p:spPr>
          <a:xfrm>
            <a:off x="2032000" y="3873500"/>
            <a:ext cx="3556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卫生反馈无门</a:t>
            </a:r>
            <a:endParaRPr lang="en-US" sz="1100"/>
          </a:p>
        </p:txBody>
      </p:sp>
      <p:sp>
        <p:nvSpPr>
          <p:cNvPr id="14" name="AutoShape 14"/>
          <p:cNvSpPr/>
          <p:nvPr/>
        </p:nvSpPr>
        <p:spPr>
          <a:xfrm>
            <a:off x="2032000" y="42799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发现问题不知向谁反映，缺乏线上/线下的通畅反馈渠道。</a:t>
            </a:r>
            <a:endParaRPr lang="en-US" sz="1100"/>
          </a:p>
        </p:txBody>
      </p:sp>
      <p:sp>
        <p:nvSpPr>
          <p:cNvPr id="15" name="AutoShape 15"/>
          <p:cNvSpPr/>
          <p:nvPr/>
        </p:nvSpPr>
        <p:spPr>
          <a:xfrm>
            <a:off x="1016000" y="4953000"/>
            <a:ext cx="4699000" cy="1079500"/>
          </a:xfrm>
          <a:prstGeom prst="roundRect">
            <a:avLst>
              <a:gd name="adj" fmla="val 9411"/>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70000" y="5207000"/>
            <a:ext cx="508000" cy="508000"/>
          </a:xfrm>
          <a:prstGeom prst="rect">
            <a:avLst/>
          </a:prstGeom>
        </p:spPr>
      </p:pic>
      <p:sp>
        <p:nvSpPr>
          <p:cNvPr id="17" name="AutoShape 17"/>
          <p:cNvSpPr/>
          <p:nvPr/>
        </p:nvSpPr>
        <p:spPr>
          <a:xfrm>
            <a:off x="2032000" y="5080000"/>
            <a:ext cx="3556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等待处理漫长</a:t>
            </a:r>
            <a:endParaRPr lang="en-US" sz="1100"/>
          </a:p>
        </p:txBody>
      </p:sp>
      <p:sp>
        <p:nvSpPr>
          <p:cNvPr id="18" name="AutoShape 18"/>
          <p:cNvSpPr/>
          <p:nvPr/>
        </p:nvSpPr>
        <p:spPr>
          <a:xfrm>
            <a:off x="2032000" y="54864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即使成功反馈，问题也往往得不到及时响应与解决，体验持续受损。</a:t>
            </a:r>
            <a:endParaRPr lang="en-US" sz="1100"/>
          </a:p>
        </p:txBody>
      </p:sp>
      <p:sp>
        <p:nvSpPr>
          <p:cNvPr id="19" name="AutoShape 19"/>
          <p:cNvSpPr/>
          <p:nvPr/>
        </p:nvSpPr>
        <p:spPr>
          <a:xfrm>
            <a:off x="6223000" y="1524000"/>
            <a:ext cx="5207000" cy="4699000"/>
          </a:xfrm>
          <a:prstGeom prst="roundRect">
            <a:avLst>
              <a:gd name="adj" fmla="val 3243"/>
            </a:avLst>
          </a:prstGeom>
          <a:solidFill>
            <a:srgbClr val="FFFFFF">
              <a:alpha val="95000"/>
            </a:srgbClr>
          </a:solidFill>
          <a:ln w="25400" cap="flat" cmpd="sng">
            <a:noFill/>
            <a:prstDash val="solid"/>
            <a:round/>
          </a:ln>
          <a:effectLst>
            <a:outerShdw blurRad="254000" dist="635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1778000"/>
            <a:ext cx="457200" cy="457200"/>
          </a:xfrm>
          <a:prstGeom prst="rect">
            <a:avLst/>
          </a:prstGeom>
        </p:spPr>
      </p:pic>
      <p:sp>
        <p:nvSpPr>
          <p:cNvPr id="21" name="AutoShape 21"/>
          <p:cNvSpPr/>
          <p:nvPr/>
        </p:nvSpPr>
        <p:spPr>
          <a:xfrm>
            <a:off x="7239000" y="1803400"/>
            <a:ext cx="3810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管理者视角：管理盲区</a:t>
            </a:r>
            <a:endParaRPr lang="en-US" sz="1100"/>
          </a:p>
        </p:txBody>
      </p:sp>
      <p:sp>
        <p:nvSpPr>
          <p:cNvPr id="22" name="AutoShape 22"/>
          <p:cNvSpPr/>
          <p:nvPr/>
        </p:nvSpPr>
        <p:spPr>
          <a:xfrm>
            <a:off x="6477000" y="2540000"/>
            <a:ext cx="4699000" cy="1079500"/>
          </a:xfrm>
          <a:prstGeom prst="roundRect">
            <a:avLst>
              <a:gd name="adj" fmla="val 9411"/>
            </a:avLst>
          </a:prstGeom>
          <a:solidFill>
            <a:srgbClr val="F0FDFA">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731000" y="2794000"/>
            <a:ext cx="508000" cy="508000"/>
          </a:xfrm>
          <a:prstGeom prst="rect">
            <a:avLst/>
          </a:prstGeom>
        </p:spPr>
      </p:pic>
      <p:sp>
        <p:nvSpPr>
          <p:cNvPr id="24" name="AutoShape 24"/>
          <p:cNvSpPr/>
          <p:nvPr/>
        </p:nvSpPr>
        <p:spPr>
          <a:xfrm>
            <a:off x="7493000" y="2667000"/>
            <a:ext cx="3556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依赖人工巡检</a:t>
            </a:r>
            <a:endParaRPr lang="en-US" sz="1100"/>
          </a:p>
        </p:txBody>
      </p:sp>
      <p:sp>
        <p:nvSpPr>
          <p:cNvPr id="25" name="AutoShape 25"/>
          <p:cNvSpPr/>
          <p:nvPr/>
        </p:nvSpPr>
        <p:spPr>
          <a:xfrm>
            <a:off x="7493000" y="30734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传统模式效率低下，且受限于人力与精力，极易造成卫生死角遗漏。</a:t>
            </a:r>
            <a:endParaRPr lang="en-US" sz="1100"/>
          </a:p>
        </p:txBody>
      </p:sp>
      <p:sp>
        <p:nvSpPr>
          <p:cNvPr id="26" name="AutoShape 26"/>
          <p:cNvSpPr/>
          <p:nvPr/>
        </p:nvSpPr>
        <p:spPr>
          <a:xfrm>
            <a:off x="6477000" y="3746500"/>
            <a:ext cx="4699000" cy="1079500"/>
          </a:xfrm>
          <a:prstGeom prst="roundRect">
            <a:avLst>
              <a:gd name="adj" fmla="val 9411"/>
            </a:avLst>
          </a:prstGeom>
          <a:solidFill>
            <a:srgbClr val="F0FDFA">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731000" y="4000500"/>
            <a:ext cx="508000" cy="508000"/>
          </a:xfrm>
          <a:prstGeom prst="rect">
            <a:avLst/>
          </a:prstGeom>
        </p:spPr>
      </p:pic>
      <p:sp>
        <p:nvSpPr>
          <p:cNvPr id="28" name="AutoShape 28"/>
          <p:cNvSpPr/>
          <p:nvPr/>
        </p:nvSpPr>
        <p:spPr>
          <a:xfrm>
            <a:off x="7493000" y="3873500"/>
            <a:ext cx="3556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管理响应滞后</a:t>
            </a:r>
            <a:endParaRPr lang="en-US" sz="1100"/>
          </a:p>
        </p:txBody>
      </p:sp>
      <p:sp>
        <p:nvSpPr>
          <p:cNvPr id="29" name="AutoShape 29"/>
          <p:cNvSpPr/>
          <p:nvPr/>
        </p:nvSpPr>
        <p:spPr>
          <a:xfrm>
            <a:off x="7493000" y="42799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无法实时、全局掌握场馆卫生状况，导致问题处理存在严重的时间差。</a:t>
            </a:r>
            <a:endParaRPr lang="en-US" sz="1100"/>
          </a:p>
        </p:txBody>
      </p:sp>
      <p:sp>
        <p:nvSpPr>
          <p:cNvPr id="30" name="AutoShape 30"/>
          <p:cNvSpPr/>
          <p:nvPr/>
        </p:nvSpPr>
        <p:spPr>
          <a:xfrm>
            <a:off x="6477000" y="4953000"/>
            <a:ext cx="4699000" cy="1079500"/>
          </a:xfrm>
          <a:prstGeom prst="roundRect">
            <a:avLst>
              <a:gd name="adj" fmla="val 9411"/>
            </a:avLst>
          </a:prstGeom>
          <a:solidFill>
            <a:srgbClr val="F0FDFA">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1" name="Picture 3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31000" y="5207000"/>
            <a:ext cx="508000" cy="508000"/>
          </a:xfrm>
          <a:prstGeom prst="rect">
            <a:avLst/>
          </a:prstGeom>
        </p:spPr>
      </p:pic>
      <p:sp>
        <p:nvSpPr>
          <p:cNvPr id="32" name="AutoShape 32"/>
          <p:cNvSpPr/>
          <p:nvPr/>
        </p:nvSpPr>
        <p:spPr>
          <a:xfrm>
            <a:off x="7493000" y="5080000"/>
            <a:ext cx="3556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用户满意度下降</a:t>
            </a:r>
            <a:endParaRPr lang="en-US" sz="1100"/>
          </a:p>
        </p:txBody>
      </p:sp>
      <p:sp>
        <p:nvSpPr>
          <p:cNvPr id="33" name="AutoShape 33"/>
          <p:cNvSpPr/>
          <p:nvPr/>
        </p:nvSpPr>
        <p:spPr>
          <a:xfrm>
            <a:off x="7493000" y="54864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长期的卫生问题积累直接导致会员体验变差，增加会员流失风险。</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lang="zh-CN"/>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FITCLEAN：构建用户与保洁的实时联动体系</a:t>
            </a:r>
            <a:endParaRPr lang="en-US" sz="1100"/>
          </a:p>
        </p:txBody>
      </p:sp>
      <p:sp>
        <p:nvSpPr>
          <p:cNvPr id="4" name="AutoShape 4"/>
          <p:cNvSpPr/>
          <p:nvPr/>
        </p:nvSpPr>
        <p:spPr>
          <a:xfrm>
            <a:off x="5588000" y="1524000"/>
            <a:ext cx="5842000" cy="4064000"/>
          </a:xfrm>
          <a:prstGeom prst="roundRect">
            <a:avLst>
              <a:gd name="adj" fmla="val 5000"/>
            </a:avLst>
          </a:prstGeom>
          <a:solidFill>
            <a:srgbClr val="FFFFFF">
              <a:alpha val="92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5842000" y="1778000"/>
            <a:ext cx="533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 FITCLEAN 微信小程序</a:t>
            </a:r>
            <a:r>
              <a:rPr lang="zh-CN" alt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创新方向：</a:t>
            </a:r>
          </a:p>
        </p:txBody>
      </p:sp>
      <p:sp>
        <p:nvSpPr>
          <p:cNvPr id="6" name="AutoShape 6"/>
          <p:cNvSpPr/>
          <p:nvPr/>
        </p:nvSpPr>
        <p:spPr>
          <a:xfrm>
            <a:off x="5842000" y="2413000"/>
            <a:ext cx="5334000" cy="952500"/>
          </a:xfrm>
          <a:prstGeom prst="roundRect">
            <a:avLst>
              <a:gd name="adj" fmla="val 16000"/>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6032500" y="2578100"/>
            <a:ext cx="609600" cy="609600"/>
          </a:xfrm>
          <a:prstGeom prst="ellipse">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59500" y="2705100"/>
            <a:ext cx="355600" cy="355600"/>
          </a:xfrm>
          <a:prstGeom prst="rect">
            <a:avLst/>
          </a:prstGeom>
        </p:spPr>
      </p:pic>
      <p:sp>
        <p:nvSpPr>
          <p:cNvPr id="9" name="AutoShape 9"/>
          <p:cNvSpPr/>
          <p:nvPr/>
        </p:nvSpPr>
        <p:spPr>
          <a:xfrm>
            <a:off x="6794500" y="2755900"/>
            <a:ext cx="4191000" cy="304800"/>
          </a:xfrm>
          <a:prstGeom prst="rect">
            <a:avLst/>
          </a:prstGeom>
          <a:noFill/>
          <a:ln w="12700" cap="flat" cmpd="sng">
            <a:noFill/>
            <a:prstDash val="solid"/>
            <a:round/>
          </a:ln>
        </p:spPr>
        <p:txBody>
          <a:bodyPr vert="horz" wrap="square" lIns="0" tIns="0" rIns="0" bIns="0" rtlCol="0" anchor="ctr" anchorCtr="0"/>
          <a:lstStyle/>
          <a:p>
            <a:pPr algn="l">
              <a:lnSpc>
                <a:spcPct val="125000"/>
              </a:lnSpc>
              <a:buSzTx/>
              <a:defRPr/>
            </a:pPr>
            <a:r>
              <a:rPr lang="zh-CN" altLang="en-US" b="1">
                <a:solidFill>
                  <a:srgbClr val="10B980"/>
                </a:solidFill>
                <a:latin typeface="Noto Sans SC" panose="020B0200000000000000" charset="-122"/>
                <a:ea typeface="Noto Sans SC" panose="020B0200000000000000" charset="-122"/>
                <a:cs typeface="Noto Sans SC" panose="020B0200000000000000" charset="-122"/>
              </a:rPr>
              <a:t>反传统巡检模式，以会员实时反馈构建卫生监督体系，消除巡检盲区。</a:t>
            </a:r>
          </a:p>
        </p:txBody>
      </p:sp>
      <p:sp>
        <p:nvSpPr>
          <p:cNvPr id="11" name="AutoShape 11"/>
          <p:cNvSpPr/>
          <p:nvPr/>
        </p:nvSpPr>
        <p:spPr>
          <a:xfrm>
            <a:off x="5842000" y="3556000"/>
            <a:ext cx="5334000" cy="952500"/>
          </a:xfrm>
          <a:prstGeom prst="roundRect">
            <a:avLst>
              <a:gd name="adj" fmla="val 16000"/>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032500" y="3721100"/>
            <a:ext cx="609600" cy="609600"/>
          </a:xfrm>
          <a:prstGeom prst="ellipse">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59500" y="3848100"/>
            <a:ext cx="355600" cy="355600"/>
          </a:xfrm>
          <a:prstGeom prst="rect">
            <a:avLst/>
          </a:prstGeom>
        </p:spPr>
      </p:pic>
      <p:sp>
        <p:nvSpPr>
          <p:cNvPr id="14" name="AutoShape 14"/>
          <p:cNvSpPr/>
          <p:nvPr/>
        </p:nvSpPr>
        <p:spPr>
          <a:xfrm>
            <a:off x="6794500" y="38481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b="1" i="0" u="none" strike="noStrike">
                <a:solidFill>
                  <a:srgbClr val="10B980"/>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通过扫码联动实体状态灯，实现清洁状态物理可视化，形成问题闭环。</a:t>
            </a:r>
          </a:p>
        </p:txBody>
      </p:sp>
      <p:sp>
        <p:nvSpPr>
          <p:cNvPr id="16" name="AutoShape 16"/>
          <p:cNvSpPr/>
          <p:nvPr/>
        </p:nvSpPr>
        <p:spPr>
          <a:xfrm>
            <a:off x="5842000" y="4699000"/>
            <a:ext cx="5334000" cy="952500"/>
          </a:xfrm>
          <a:prstGeom prst="roundRect">
            <a:avLst>
              <a:gd name="adj" fmla="val 16000"/>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032500" y="4864100"/>
            <a:ext cx="609600" cy="609600"/>
          </a:xfrm>
          <a:prstGeom prst="ellipse">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159500" y="4991100"/>
            <a:ext cx="355600" cy="355600"/>
          </a:xfrm>
          <a:prstGeom prst="rect">
            <a:avLst/>
          </a:prstGeom>
        </p:spPr>
      </p:pic>
      <p:sp>
        <p:nvSpPr>
          <p:cNvPr id="19" name="AutoShape 19"/>
          <p:cNvSpPr/>
          <p:nvPr/>
        </p:nvSpPr>
        <p:spPr>
          <a:xfrm>
            <a:off x="6794500" y="5003800"/>
            <a:ext cx="4191000" cy="304800"/>
          </a:xfrm>
          <a:prstGeom prst="rect">
            <a:avLst/>
          </a:prstGeom>
          <a:noFill/>
          <a:ln w="12700" cap="flat" cmpd="sng">
            <a:noFill/>
            <a:prstDash val="solid"/>
            <a:round/>
          </a:ln>
        </p:spPr>
        <p:txBody>
          <a:bodyPr vert="horz" wrap="square" lIns="0" tIns="0" rIns="0" bIns="0" rtlCol="0" anchor="ctr" anchorCtr="0"/>
          <a:lstStyle/>
          <a:p>
            <a:pPr algn="l">
              <a:lnSpc>
                <a:spcPct val="125000"/>
              </a:lnSpc>
              <a:buSzTx/>
              <a:defRPr/>
            </a:pPr>
            <a:r>
              <a:rPr lang="zh-CN" altLang="en-US" b="1">
                <a:solidFill>
                  <a:srgbClr val="10B980"/>
                </a:solidFill>
                <a:latin typeface="Noto Sans SC" panose="020B0200000000000000" charset="-122"/>
                <a:ea typeface="Noto Sans SC" panose="020B0200000000000000" charset="-122"/>
                <a:cs typeface="Noto Sans SC" panose="020B0200000000000000" charset="-122"/>
              </a:rPr>
              <a:t>增设匿名评价机制，服务质量从主观判断到数据量化。</a:t>
            </a:r>
          </a:p>
        </p:txBody>
      </p:sp>
      <p:sp>
        <p:nvSpPr>
          <p:cNvPr id="21" name="AutoShape 21"/>
          <p:cNvSpPr/>
          <p:nvPr/>
        </p:nvSpPr>
        <p:spPr>
          <a:xfrm>
            <a:off x="3691255" y="5969000"/>
            <a:ext cx="7738745" cy="609600"/>
          </a:xfrm>
          <a:prstGeom prst="roundRect">
            <a:avLst>
              <a:gd name="adj" fmla="val 16666"/>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4021455" y="5969000"/>
            <a:ext cx="7408545" cy="609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FITCLEAN，让每一滴汗水都流得痛快，让每一次训练都安心无忧！</a:t>
            </a:r>
            <a:endParaRPr lang="en-US" sz="1100"/>
          </a:p>
        </p:txBody>
      </p:sp>
      <p:pic>
        <p:nvPicPr>
          <p:cNvPr id="24" name="图片 23"/>
          <p:cNvPicPr>
            <a:picLocks noChangeAspect="1"/>
          </p:cNvPicPr>
          <p:nvPr/>
        </p:nvPicPr>
        <p:blipFill>
          <a:blip r:embed="rId7"/>
          <a:stretch>
            <a:fillRect/>
          </a:stretch>
        </p:blipFill>
        <p:spPr>
          <a:xfrm>
            <a:off x="762000" y="1336040"/>
            <a:ext cx="2489835" cy="53917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1148715" y="7550785"/>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AutoShape 3"/>
          <p:cNvSpPr/>
          <p:nvPr/>
        </p:nvSpPr>
        <p:spPr>
          <a:xfrm>
            <a:off x="0" y="1524000"/>
            <a:ext cx="12192000" cy="1651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2000" b="1" i="0" u="none" strike="noStrike" kern="0" cap="none" spc="0" normalizeH="0" baseline="0" noProof="0">
                <a:ln>
                  <a:noFill/>
                </a:ln>
                <a:solidFill>
                  <a:srgbClr val="22C55E"/>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 name="AutoShape 4"/>
          <p:cNvSpPr/>
          <p:nvPr/>
        </p:nvSpPr>
        <p:spPr>
          <a:xfrm>
            <a:off x="0" y="3429000"/>
            <a:ext cx="12192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zh-CN" altLang="en-US" sz="4000" b="1" i="0" u="none" strike="noStrike" kern="0" cap="none" spc="0" normalizeH="0" baseline="0" noProof="0">
                <a:ln>
                  <a:noFill/>
                </a:ln>
                <a:solidFill>
                  <a:srgbClr val="1F2937"/>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产品方案</a:t>
            </a:r>
          </a:p>
        </p:txBody>
      </p:sp>
      <p:sp>
        <p:nvSpPr>
          <p:cNvPr id="5" name="AutoShape 5"/>
          <p:cNvSpPr/>
          <p:nvPr/>
        </p:nvSpPr>
        <p:spPr>
          <a:xfrm>
            <a:off x="5588000" y="4445000"/>
            <a:ext cx="1016000" cy="76200"/>
          </a:xfrm>
          <a:prstGeom prst="roundRect">
            <a:avLst>
              <a:gd name="adj" fmla="val 50000"/>
            </a:avLst>
          </a:prstGeom>
          <a:solidFill>
            <a:srgbClr val="22C55E">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6" name="AutoShape 6"/>
          <p:cNvSpPr/>
          <p:nvPr/>
        </p:nvSpPr>
        <p:spPr>
          <a:xfrm>
            <a:off x="0" y="4953000"/>
            <a:ext cx="12192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zh-CN" altLang="en-US" sz="2200" b="0" i="0" u="none" strike="noStrike" kern="0" cap="none" spc="0" normalizeH="0" baseline="0" noProof="0">
                <a:ln>
                  <a:noFill/>
                </a:ln>
                <a:solidFill>
                  <a:srgbClr val="6B7280"/>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功能、场景及优势</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8">
            <a:lum/>
          </a:blip>
          <a:srcRect/>
          <a:stretch>
            <a:fillRect/>
          </a:stretch>
        </a:blipFill>
        <a:effectLst/>
      </p:bgPr>
    </p:bg>
    <p:spTree>
      <p:nvGrpSpPr>
        <p:cNvPr id="1" name=""/>
        <p:cNvGrpSpPr/>
        <p:nvPr/>
      </p:nvGrpSpPr>
      <p:grpSpPr>
        <a:xfrm>
          <a:off x="0" y="0"/>
          <a:ext cx="0" cy="0"/>
          <a:chOff x="0" y="0"/>
          <a:chExt cx="0" cy="0"/>
        </a:xfrm>
      </p:grpSpPr>
      <p:grpSp>
        <p:nvGrpSpPr>
          <p:cNvPr id="7" name="组合 6"/>
          <p:cNvGrpSpPr/>
          <p:nvPr>
            <p:custDataLst>
              <p:tags r:id="rId1"/>
            </p:custDataLst>
          </p:nvPr>
        </p:nvGrpSpPr>
        <p:grpSpPr>
          <a:xfrm>
            <a:off x="5686425" y="1842770"/>
            <a:ext cx="2540000" cy="2355850"/>
            <a:chOff x="1200" y="4207"/>
            <a:chExt cx="4000" cy="3710"/>
          </a:xfrm>
        </p:grpSpPr>
        <p:sp>
          <p:nvSpPr>
            <p:cNvPr id="31" name="AutoShape 5"/>
            <p:cNvSpPr/>
            <p:nvPr>
              <p:custDataLst>
                <p:tags r:id="rId21"/>
              </p:custDataLst>
            </p:nvPr>
          </p:nvSpPr>
          <p:spPr>
            <a:xfrm>
              <a:off x="1200" y="4207"/>
              <a:ext cx="4000" cy="3710"/>
            </a:xfrm>
            <a:prstGeom prst="roundRect">
              <a:avLst>
                <a:gd name="adj" fmla="val 6000"/>
              </a:avLst>
            </a:prstGeom>
            <a:solidFill>
              <a:srgbClr val="FFFFFF">
                <a:alpha val="95000"/>
              </a:srgbClr>
            </a:solidFill>
            <a:ln w="25400" cap="flat" cmpd="sng">
              <a:noFill/>
              <a:prstDash val="solid"/>
              <a:round/>
            </a:ln>
            <a:effectLst>
              <a:outerShdw blurRad="254000" dist="76200" dir="2700000" algn="tl" rotWithShape="0">
                <a:srgbClr val="000000">
                  <a:alpha val="10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32" name="Picture 6"/>
            <p:cNvPicPr>
              <a:picLocks noChangeAspect="1"/>
            </p:cNvPicPr>
            <p:nvPr>
              <p:custDataLst>
                <p:tags r:id="rId2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2720" y="4320"/>
              <a:ext cx="960" cy="960"/>
            </a:xfrm>
            <a:prstGeom prst="rect">
              <a:avLst/>
            </a:prstGeom>
          </p:spPr>
        </p:pic>
        <p:sp>
          <p:nvSpPr>
            <p:cNvPr id="33" name="AutoShape 7"/>
            <p:cNvSpPr/>
            <p:nvPr>
              <p:custDataLst>
                <p:tags r:id="rId23"/>
              </p:custDataLst>
            </p:nvPr>
          </p:nvSpPr>
          <p:spPr>
            <a:xfrm>
              <a:off x="1400" y="5280"/>
              <a:ext cx="3600" cy="6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zh-CN" altLang="en-US" sz="1600" b="1" i="0" u="none" strike="noStrike" kern="0" cap="none" spc="0" normalizeH="0" baseline="0" noProof="0">
                  <a:ln>
                    <a:noFill/>
                  </a:ln>
                  <a:solidFill>
                    <a:srgbClr val="37415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软硬件</a:t>
              </a:r>
              <a:r>
                <a:rPr kumimoji="0" lang="en-US" sz="1600" b="1" i="0" u="none" strike="noStrike" kern="0" cap="none" spc="0" normalizeH="0" baseline="0" noProof="0">
                  <a:ln>
                    <a:noFill/>
                  </a:ln>
                  <a:solidFill>
                    <a:srgbClr val="37415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一键匿名上报</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4" name="AutoShape 8"/>
            <p:cNvSpPr/>
            <p:nvPr>
              <p:custDataLst>
                <p:tags r:id="rId24"/>
              </p:custDataLst>
            </p:nvPr>
          </p:nvSpPr>
          <p:spPr>
            <a:xfrm>
              <a:off x="1700" y="5980"/>
              <a:ext cx="3200" cy="60"/>
            </a:xfrm>
            <a:prstGeom prst="roundRect">
              <a:avLst>
                <a:gd name="adj" fmla="val 50000"/>
              </a:avLst>
            </a:prstGeom>
            <a:solidFill>
              <a:srgbClr val="10B981">
                <a:alpha val="6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5" name="AutoShape 9"/>
            <p:cNvSpPr/>
            <p:nvPr>
              <p:custDataLst>
                <p:tags r:id="rId25"/>
              </p:custDataLst>
            </p:nvPr>
          </p:nvSpPr>
          <p:spPr>
            <a:xfrm>
              <a:off x="1600" y="6021"/>
              <a:ext cx="3400" cy="1839"/>
            </a:xfrm>
            <a:prstGeom prst="roundRect">
              <a:avLst>
                <a:gd name="adj" fmla="val 0"/>
              </a:avLst>
            </a:prstGeom>
            <a:noFill/>
            <a:ln w="25400" cap="flat" cmpd="sng">
              <a:noFill/>
              <a:prstDash val="solid"/>
              <a:round/>
            </a:ln>
          </p:spPr>
          <p:txBody>
            <a:bodyPr vert="horz" wrap="square" lIns="0" tIns="63500" rIns="0" bIns="63500" rtlCol="0" anchor="ctr" anchorCtr="0"/>
            <a:lstStyle/>
            <a:p>
              <a:pPr marL="0" marR="0" lvl="0" indent="0" algn="just" defTabSz="914400" rtl="0" eaLnBrk="1" fontAlgn="auto" latinLnBrk="0" hangingPunct="1">
                <a:lnSpc>
                  <a:spcPct val="117000"/>
                </a:lnSpc>
                <a:spcBef>
                  <a:spcPts val="0"/>
                </a:spcBef>
                <a:spcAft>
                  <a:spcPts val="0"/>
                </a:spcAft>
                <a:buClr>
                  <a:srgbClr val="000000"/>
                </a:buClr>
                <a:buSzTx/>
                <a:buFont typeface="Arial" panose="020B0604020202020204"/>
                <a:buNone/>
                <a:defRPr/>
              </a:pPr>
              <a:r>
                <a:rPr kumimoji="0" lang="en-US" sz="1100" b="1" i="0" u="none" strike="noStrike" kern="0" cap="none" spc="0" normalizeH="0" baseline="0" noProof="0">
                  <a:ln>
                    <a:noFill/>
                  </a:ln>
                  <a:solidFill>
                    <a:srgbClr val="6B7280"/>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扫描器械二维码或按下物理按键</a:t>
              </a:r>
              <a:r>
                <a:rPr kumimoji="0" lang="en-US" sz="1100" b="0" i="0" u="none" strike="noStrike" kern="0" cap="none" spc="0" normalizeH="0" baseline="0" noProof="0">
                  <a:ln>
                    <a:noFill/>
                  </a:ln>
                  <a:solidFill>
                    <a:srgbClr val="6B7280"/>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，即可匿名提交卫生问题反馈，操作便捷，无需担心隐私泄露。</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grpSp>
      <p:grpSp>
        <p:nvGrpSpPr>
          <p:cNvPr id="5" name="组合 4"/>
          <p:cNvGrpSpPr/>
          <p:nvPr>
            <p:custDataLst>
              <p:tags r:id="rId2"/>
            </p:custDataLst>
          </p:nvPr>
        </p:nvGrpSpPr>
        <p:grpSpPr>
          <a:xfrm>
            <a:off x="5686425" y="4403090"/>
            <a:ext cx="2540000" cy="2355850"/>
            <a:chOff x="10000" y="4208"/>
            <a:chExt cx="4000" cy="3710"/>
          </a:xfrm>
        </p:grpSpPr>
        <p:sp>
          <p:nvSpPr>
            <p:cNvPr id="21" name="AutoShape 21"/>
            <p:cNvSpPr/>
            <p:nvPr>
              <p:custDataLst>
                <p:tags r:id="rId15"/>
              </p:custDataLst>
            </p:nvPr>
          </p:nvSpPr>
          <p:spPr>
            <a:xfrm>
              <a:off x="10500" y="4640"/>
              <a:ext cx="1120" cy="1120"/>
            </a:xfrm>
            <a:prstGeom prst="ellipse">
              <a:avLst/>
            </a:prstGeom>
            <a:solidFill>
              <a:srgbClr val="E5E7EB">
                <a:alpha val="8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1" name="AutoShape 15"/>
            <p:cNvSpPr/>
            <p:nvPr>
              <p:custDataLst>
                <p:tags r:id="rId16"/>
              </p:custDataLst>
            </p:nvPr>
          </p:nvSpPr>
          <p:spPr>
            <a:xfrm>
              <a:off x="10000" y="4208"/>
              <a:ext cx="4000" cy="3710"/>
            </a:xfrm>
            <a:prstGeom prst="roundRect">
              <a:avLst>
                <a:gd name="adj" fmla="val 6000"/>
              </a:avLst>
            </a:prstGeom>
            <a:solidFill>
              <a:srgbClr val="FFFFFF">
                <a:alpha val="95000"/>
              </a:srgbClr>
            </a:solidFill>
            <a:ln w="25400" cap="flat" cmpd="sng">
              <a:noFill/>
              <a:prstDash val="solid"/>
              <a:round/>
            </a:ln>
            <a:effectLst>
              <a:outerShdw blurRad="254000" dist="76200" dir="2700000" algn="tl" rotWithShape="0">
                <a:srgbClr val="000000">
                  <a:alpha val="10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42" name="Picture 16"/>
            <p:cNvPicPr>
              <a:picLocks noChangeAspect="1"/>
            </p:cNvPicPr>
            <p:nvPr>
              <p:custDataLst>
                <p:tags r:id="rId17"/>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11520" y="4320"/>
              <a:ext cx="960" cy="960"/>
            </a:xfrm>
            <a:prstGeom prst="rect">
              <a:avLst/>
            </a:prstGeom>
          </p:spPr>
        </p:pic>
        <p:sp>
          <p:nvSpPr>
            <p:cNvPr id="43" name="AutoShape 17"/>
            <p:cNvSpPr/>
            <p:nvPr>
              <p:custDataLst>
                <p:tags r:id="rId18"/>
              </p:custDataLst>
            </p:nvPr>
          </p:nvSpPr>
          <p:spPr>
            <a:xfrm>
              <a:off x="10200" y="5280"/>
              <a:ext cx="3600" cy="6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zh-CN" altLang="en-US" sz="1600" b="1" i="0" u="none" strike="noStrike" kern="0" cap="none" spc="0" normalizeH="0" baseline="0" noProof="0">
                  <a:ln>
                    <a:noFill/>
                  </a:ln>
                  <a:solidFill>
                    <a:srgbClr val="37415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用户</a:t>
              </a:r>
              <a:r>
                <a:rPr kumimoji="0" lang="en-US" sz="1600" b="1" i="0" u="none" strike="noStrike" kern="0" cap="none" spc="0" normalizeH="0" baseline="0" noProof="0">
                  <a:ln>
                    <a:noFill/>
                  </a:ln>
                  <a:solidFill>
                    <a:srgbClr val="37415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满意度闭环评价</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4" name="AutoShape 18"/>
            <p:cNvSpPr/>
            <p:nvPr>
              <p:custDataLst>
                <p:tags r:id="rId19"/>
              </p:custDataLst>
            </p:nvPr>
          </p:nvSpPr>
          <p:spPr>
            <a:xfrm>
              <a:off x="10500" y="5980"/>
              <a:ext cx="3200" cy="60"/>
            </a:xfrm>
            <a:prstGeom prst="roundRect">
              <a:avLst>
                <a:gd name="adj" fmla="val 50000"/>
              </a:avLst>
            </a:prstGeom>
            <a:solidFill>
              <a:srgbClr val="10B981">
                <a:alpha val="6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5" name="AutoShape 19"/>
            <p:cNvSpPr/>
            <p:nvPr>
              <p:custDataLst>
                <p:tags r:id="rId20"/>
              </p:custDataLst>
            </p:nvPr>
          </p:nvSpPr>
          <p:spPr>
            <a:xfrm>
              <a:off x="10400" y="6260"/>
              <a:ext cx="3400" cy="1600"/>
            </a:xfrm>
            <a:prstGeom prst="roundRect">
              <a:avLst>
                <a:gd name="adj" fmla="val 0"/>
              </a:avLst>
            </a:prstGeom>
            <a:noFill/>
            <a:ln w="25400" cap="flat" cmpd="sng">
              <a:noFill/>
              <a:prstDash val="solid"/>
              <a:round/>
            </a:ln>
          </p:spPr>
          <p:txBody>
            <a:bodyPr vert="horz" wrap="square" lIns="0" tIns="63500" rIns="0" bIns="63500" rtlCol="0" anchor="ctr" anchorCtr="0"/>
            <a:lstStyle/>
            <a:p>
              <a:pPr marL="0" marR="0" lvl="0" indent="0" algn="just" defTabSz="914400" rtl="0" eaLnBrk="1" fontAlgn="auto" latinLnBrk="0" hangingPunct="1">
                <a:lnSpc>
                  <a:spcPct val="117000"/>
                </a:lnSpc>
                <a:spcBef>
                  <a:spcPts val="0"/>
                </a:spcBef>
                <a:spcAft>
                  <a:spcPts val="0"/>
                </a:spcAft>
                <a:buClr>
                  <a:srgbClr val="000000"/>
                </a:buClr>
                <a:buSzTx/>
                <a:buFont typeface="Arial" panose="020B0604020202020204"/>
                <a:buNone/>
                <a:defRPr/>
              </a:pPr>
              <a:r>
                <a:rPr kumimoji="0" lang="en-US" sz="1100" b="0" i="0" u="none" strike="noStrike" kern="0" cap="none" spc="0" normalizeH="0" baseline="0" noProof="0">
                  <a:ln>
                    <a:noFill/>
                  </a:ln>
                  <a:solidFill>
                    <a:srgbClr val="6B7280"/>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问题解决后，上报会员将收到处理通知，并可通过“笑脸”或“哭脸”对服务质量进行评价，有效形成服务质量的监督闭环。</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grpSp>
      <p:grpSp>
        <p:nvGrpSpPr>
          <p:cNvPr id="3" name="组合 2"/>
          <p:cNvGrpSpPr/>
          <p:nvPr>
            <p:custDataLst>
              <p:tags r:id="rId3"/>
            </p:custDataLst>
          </p:nvPr>
        </p:nvGrpSpPr>
        <p:grpSpPr>
          <a:xfrm>
            <a:off x="8480425" y="4402455"/>
            <a:ext cx="2540000" cy="2355850"/>
            <a:chOff x="14400" y="4207"/>
            <a:chExt cx="4000" cy="3710"/>
          </a:xfrm>
        </p:grpSpPr>
        <p:sp>
          <p:nvSpPr>
            <p:cNvPr id="46" name="AutoShape 20"/>
            <p:cNvSpPr/>
            <p:nvPr>
              <p:custDataLst>
                <p:tags r:id="rId10"/>
              </p:custDataLst>
            </p:nvPr>
          </p:nvSpPr>
          <p:spPr>
            <a:xfrm>
              <a:off x="14400" y="4207"/>
              <a:ext cx="4000" cy="3710"/>
            </a:xfrm>
            <a:prstGeom prst="roundRect">
              <a:avLst>
                <a:gd name="adj" fmla="val 6000"/>
              </a:avLst>
            </a:prstGeom>
            <a:solidFill>
              <a:srgbClr val="FFFFFF">
                <a:alpha val="95000"/>
              </a:srgbClr>
            </a:solidFill>
            <a:ln w="25400" cap="flat" cmpd="sng">
              <a:noFill/>
              <a:prstDash val="solid"/>
              <a:round/>
            </a:ln>
            <a:effectLst>
              <a:outerShdw blurRad="254000" dist="76200" dir="2700000" algn="tl" rotWithShape="0">
                <a:srgbClr val="000000">
                  <a:alpha val="10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47" name="Picture 21"/>
            <p:cNvPicPr>
              <a:picLocks noChangeAspect="1"/>
            </p:cNvPicPr>
            <p:nvPr>
              <p:custDataLst>
                <p:tags r:id="rId1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15920" y="4320"/>
              <a:ext cx="960" cy="960"/>
            </a:xfrm>
            <a:prstGeom prst="rect">
              <a:avLst/>
            </a:prstGeom>
          </p:spPr>
        </p:pic>
        <p:sp>
          <p:nvSpPr>
            <p:cNvPr id="48" name="AutoShape 22"/>
            <p:cNvSpPr/>
            <p:nvPr>
              <p:custDataLst>
                <p:tags r:id="rId12"/>
              </p:custDataLst>
            </p:nvPr>
          </p:nvSpPr>
          <p:spPr>
            <a:xfrm>
              <a:off x="14600" y="5280"/>
              <a:ext cx="3600" cy="6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zh-CN" altLang="en-US" sz="1600" b="1" i="0" u="none" strike="noStrike" kern="0" cap="none" spc="0" normalizeH="0" baseline="0" noProof="0">
                  <a:ln>
                    <a:noFill/>
                  </a:ln>
                  <a:solidFill>
                    <a:srgbClr val="37415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小程序</a:t>
              </a:r>
              <a:r>
                <a:rPr kumimoji="0" lang="en-US" sz="1600" b="1" i="0" u="none" strike="noStrike" kern="0" cap="none" spc="0" normalizeH="0" baseline="0" noProof="0">
                  <a:ln>
                    <a:noFill/>
                  </a:ln>
                  <a:solidFill>
                    <a:srgbClr val="37415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数据化管理后台</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9" name="AutoShape 23"/>
            <p:cNvSpPr/>
            <p:nvPr>
              <p:custDataLst>
                <p:tags r:id="rId13"/>
              </p:custDataLst>
            </p:nvPr>
          </p:nvSpPr>
          <p:spPr>
            <a:xfrm>
              <a:off x="14900" y="5980"/>
              <a:ext cx="3200" cy="60"/>
            </a:xfrm>
            <a:prstGeom prst="roundRect">
              <a:avLst>
                <a:gd name="adj" fmla="val 50000"/>
              </a:avLst>
            </a:prstGeom>
            <a:solidFill>
              <a:srgbClr val="10B981">
                <a:alpha val="6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50" name="AutoShape 24"/>
            <p:cNvSpPr/>
            <p:nvPr>
              <p:custDataLst>
                <p:tags r:id="rId14"/>
              </p:custDataLst>
            </p:nvPr>
          </p:nvSpPr>
          <p:spPr>
            <a:xfrm>
              <a:off x="14800" y="6260"/>
              <a:ext cx="3400" cy="1600"/>
            </a:xfrm>
            <a:prstGeom prst="roundRect">
              <a:avLst>
                <a:gd name="adj" fmla="val 0"/>
              </a:avLst>
            </a:prstGeom>
            <a:noFill/>
            <a:ln w="25400" cap="flat" cmpd="sng">
              <a:noFill/>
              <a:prstDash val="solid"/>
              <a:round/>
            </a:ln>
          </p:spPr>
          <p:txBody>
            <a:bodyPr vert="horz" wrap="square" lIns="0" tIns="63500" rIns="0" bIns="63500" rtlCol="0" anchor="ctr" anchorCtr="0"/>
            <a:lstStyle/>
            <a:p>
              <a:pPr marL="0" marR="0" lvl="0" indent="0" algn="just" defTabSz="914400" rtl="0" eaLnBrk="1" fontAlgn="auto" latinLnBrk="0" hangingPunct="1">
                <a:lnSpc>
                  <a:spcPct val="117000"/>
                </a:lnSpc>
                <a:spcBef>
                  <a:spcPts val="0"/>
                </a:spcBef>
                <a:spcAft>
                  <a:spcPts val="0"/>
                </a:spcAft>
                <a:buClr>
                  <a:srgbClr val="000000"/>
                </a:buClr>
                <a:buSzTx/>
                <a:buFont typeface="Arial" panose="020B0604020202020204"/>
                <a:buNone/>
                <a:defRPr/>
              </a:pPr>
              <a:r>
                <a:rPr kumimoji="0" lang="en-US" sz="1100" b="0" i="0" u="none" strike="noStrike" kern="0" cap="none" spc="0" normalizeH="0" baseline="0" noProof="0">
                  <a:ln>
                    <a:noFill/>
                  </a:ln>
                  <a:solidFill>
                    <a:srgbClr val="6B7280"/>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管理者可通过可视化后台看板，实时查看卫生反馈数据、保洁处理进度及会员满意度趋势，实现对服务质量的量化评估与持续优化。</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grpSp>
      <p:grpSp>
        <p:nvGrpSpPr>
          <p:cNvPr id="6" name="组合 5"/>
          <p:cNvGrpSpPr/>
          <p:nvPr>
            <p:custDataLst>
              <p:tags r:id="rId4"/>
            </p:custDataLst>
          </p:nvPr>
        </p:nvGrpSpPr>
        <p:grpSpPr>
          <a:xfrm>
            <a:off x="8480425" y="1842770"/>
            <a:ext cx="2540000" cy="2355850"/>
            <a:chOff x="5600" y="4207"/>
            <a:chExt cx="4000" cy="3710"/>
          </a:xfrm>
        </p:grpSpPr>
        <p:sp>
          <p:nvSpPr>
            <p:cNvPr id="36" name="AutoShape 10"/>
            <p:cNvSpPr/>
            <p:nvPr>
              <p:custDataLst>
                <p:tags r:id="rId5"/>
              </p:custDataLst>
            </p:nvPr>
          </p:nvSpPr>
          <p:spPr>
            <a:xfrm>
              <a:off x="5600" y="4207"/>
              <a:ext cx="4000" cy="3710"/>
            </a:xfrm>
            <a:prstGeom prst="roundRect">
              <a:avLst>
                <a:gd name="adj" fmla="val 6000"/>
              </a:avLst>
            </a:prstGeom>
            <a:solidFill>
              <a:srgbClr val="FFFFFF">
                <a:alpha val="95000"/>
              </a:srgbClr>
            </a:solidFill>
            <a:ln w="25400" cap="flat" cmpd="sng">
              <a:noFill/>
              <a:prstDash val="solid"/>
              <a:round/>
            </a:ln>
            <a:effectLst>
              <a:outerShdw blurRad="254000" dist="76200" dir="2700000" algn="tl" rotWithShape="0">
                <a:srgbClr val="000000">
                  <a:alpha val="10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8" name="AutoShape 12"/>
            <p:cNvSpPr/>
            <p:nvPr>
              <p:custDataLst>
                <p:tags r:id="rId6"/>
              </p:custDataLst>
            </p:nvPr>
          </p:nvSpPr>
          <p:spPr>
            <a:xfrm>
              <a:off x="5800" y="5280"/>
              <a:ext cx="3600" cy="6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zh-CN" altLang="en-US" sz="1600" b="1" i="0" u="none" strike="noStrike" kern="0" cap="none" spc="0" normalizeH="0" baseline="0" noProof="0">
                  <a:ln>
                    <a:noFill/>
                  </a:ln>
                  <a:solidFill>
                    <a:srgbClr val="37415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线下</a:t>
              </a:r>
              <a:r>
                <a:rPr kumimoji="0" lang="en-US" sz="1600" b="1" i="0" u="none" strike="noStrike" kern="0" cap="none" spc="0" normalizeH="0" baseline="0" noProof="0">
                  <a:ln>
                    <a:noFill/>
                  </a:ln>
                  <a:solidFill>
                    <a:srgbClr val="37415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状态灯实时反馈</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9" name="AutoShape 13"/>
            <p:cNvSpPr/>
            <p:nvPr>
              <p:custDataLst>
                <p:tags r:id="rId7"/>
              </p:custDataLst>
            </p:nvPr>
          </p:nvSpPr>
          <p:spPr>
            <a:xfrm>
              <a:off x="6100" y="5980"/>
              <a:ext cx="3200" cy="60"/>
            </a:xfrm>
            <a:prstGeom prst="roundRect">
              <a:avLst>
                <a:gd name="adj" fmla="val 50000"/>
              </a:avLst>
            </a:prstGeom>
            <a:solidFill>
              <a:srgbClr val="10B981">
                <a:alpha val="6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0" name="AutoShape 14"/>
            <p:cNvSpPr/>
            <p:nvPr>
              <p:custDataLst>
                <p:tags r:id="rId8"/>
              </p:custDataLst>
            </p:nvPr>
          </p:nvSpPr>
          <p:spPr>
            <a:xfrm>
              <a:off x="6000" y="6188"/>
              <a:ext cx="3400" cy="1672"/>
            </a:xfrm>
            <a:prstGeom prst="roundRect">
              <a:avLst>
                <a:gd name="adj" fmla="val 0"/>
              </a:avLst>
            </a:prstGeom>
            <a:noFill/>
            <a:ln w="25400" cap="flat" cmpd="sng">
              <a:noFill/>
              <a:prstDash val="solid"/>
              <a:round/>
            </a:ln>
          </p:spPr>
          <p:txBody>
            <a:bodyPr vert="horz" wrap="square" lIns="0" tIns="63500" rIns="0" bIns="63500" rtlCol="0" anchor="ctr" anchorCtr="0"/>
            <a:lstStyle/>
            <a:p>
              <a:pPr marL="0" marR="0" lvl="0" indent="0" algn="just" defTabSz="914400" rtl="0" eaLnBrk="1" fontAlgn="auto" latinLnBrk="0" hangingPunct="1">
                <a:lnSpc>
                  <a:spcPct val="117000"/>
                </a:lnSpc>
                <a:spcBef>
                  <a:spcPts val="0"/>
                </a:spcBef>
                <a:spcAft>
                  <a:spcPts val="0"/>
                </a:spcAft>
                <a:buClr>
                  <a:srgbClr val="000000"/>
                </a:buClr>
                <a:buSzTx/>
                <a:buFont typeface="Arial" panose="020B0604020202020204"/>
                <a:buNone/>
                <a:defRPr/>
              </a:pPr>
              <a:r>
                <a:rPr kumimoji="0" lang="en-US" sz="1100" b="0" i="0" u="none" strike="noStrike" kern="0" cap="none" spc="0" normalizeH="0" baseline="0" noProof="0">
                  <a:ln>
                    <a:noFill/>
                  </a:ln>
                  <a:solidFill>
                    <a:srgbClr val="6B7280"/>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问题上报后器械亮红灯，引导保洁快速处理；清洁完成后自动切换为绿灯，直观告知下一位会员器械已处于安全洁净状态。</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51" name="图片 50" descr="警报灯"/>
            <p:cNvPicPr>
              <a:picLocks noChangeAspect="1"/>
            </p:cNvPicPr>
            <p:nvPr>
              <p:custDataLst>
                <p:tags r:id="rId9"/>
              </p:custDataLst>
            </p:nvPr>
          </p:nvPicPr>
          <p:blipFill>
            <a:blip>
              <a:extLst>
                <a:ext uri="{96DAC541-7B7A-43D3-8B79-37D633B846F1}">
                  <asvg:svgBlip xmlns:asvg="http://schemas.microsoft.com/office/drawing/2016/SVG/main" r:embed="rId32"/>
                </a:ext>
              </a:extLst>
            </a:blip>
            <a:stretch>
              <a:fillRect/>
            </a:stretch>
          </p:blipFill>
          <p:spPr>
            <a:xfrm>
              <a:off x="7000" y="4326"/>
              <a:ext cx="954" cy="954"/>
            </a:xfrm>
            <a:prstGeom prst="rect">
              <a:avLst/>
            </a:prstGeom>
          </p:spPr>
        </p:pic>
      </p:grpSp>
      <p:sp>
        <p:nvSpPr>
          <p:cNvPr id="9" name="AutoShape 3"/>
          <p:cNvSpPr/>
          <p:nvPr/>
        </p:nvSpPr>
        <p:spPr>
          <a:xfrm>
            <a:off x="600710" y="855980"/>
            <a:ext cx="10668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zh-CN" altLang="en-US" sz="3200" b="1" i="0" u="none" strike="noStrike" kern="0" cap="none" spc="0" normalizeH="0" baseline="0" noProof="0">
                <a:ln>
                  <a:noFill/>
                </a:ln>
                <a:solidFill>
                  <a:srgbClr val="37415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核心功能</a:t>
            </a:r>
            <a:r>
              <a:rPr kumimoji="0" lang="en-US" sz="3200" b="1" i="0" u="none" strike="noStrike" kern="0" cap="none" spc="0" normalizeH="0" baseline="0" noProof="0">
                <a:ln>
                  <a:noFill/>
                </a:ln>
                <a:solidFill>
                  <a:srgbClr val="37415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a:t>
            </a:r>
            <a:r>
              <a:rPr kumimoji="0" lang="en-US" sz="3200" b="1" i="0" u="none" strike="noStrike" kern="0" cap="none" spc="0" normalizeH="0" baseline="0" noProof="0">
                <a:ln>
                  <a:noFill/>
                </a:ln>
                <a:solidFill>
                  <a:srgbClr val="374151"/>
                </a:solidFill>
                <a:effectLst/>
                <a:uLnTx/>
                <a:uFillTx/>
                <a:latin typeface="Noto Sans SC" panose="020B0200000000000000" charset="-122"/>
                <a:ea typeface="Noto Sans SC" panose="020B0200000000000000" charset="-122"/>
                <a:cs typeface="Noto Sans SC" panose="020B0200000000000000" charset="-122"/>
                <a:sym typeface="Arial" panose="020B0604020202020204"/>
              </a:rPr>
              <a:t>智能闭环，让每一次清洁都有迹可循</a:t>
            </a:r>
          </a:p>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endParaRPr kumimoji="0" lang="zh-CN" alt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2" name="图片 1" descr="jimeng-2026-04-23-3821-将图片2的绿灯安装到图片1健身器械的座椅下方作为状态指示灯，保持健身器械其他部分..."/>
          <p:cNvPicPr>
            <a:picLocks noChangeAspect="1"/>
          </p:cNvPicPr>
          <p:nvPr/>
        </p:nvPicPr>
        <p:blipFill>
          <a:blip r:embed="rId33"/>
          <a:stretch>
            <a:fillRect/>
          </a:stretch>
        </p:blipFill>
        <p:spPr>
          <a:xfrm>
            <a:off x="0" y="1842770"/>
            <a:ext cx="6299835" cy="4725035"/>
          </a:xfrm>
          <a:prstGeom prst="rect">
            <a:avLst/>
          </a:prstGeom>
        </p:spPr>
      </p:pic>
      <p:pic>
        <p:nvPicPr>
          <p:cNvPr id="10" name="图片 9"/>
          <p:cNvPicPr/>
          <p:nvPr/>
        </p:nvPicPr>
        <p:blipFill>
          <a:blip r:embed="rId34"/>
          <a:stretch>
            <a:fillRect/>
          </a:stretch>
        </p:blipFill>
        <p:spPr>
          <a:xfrm>
            <a:off x="3931920" y="5083810"/>
            <a:ext cx="342900" cy="342900"/>
          </a:xfrm>
          <a:prstGeom prst="rect">
            <a:avLst/>
          </a:prstGeom>
        </p:spPr>
      </p:pic>
      <p:sp>
        <p:nvSpPr>
          <p:cNvPr id="11" name="文本框 10"/>
          <p:cNvSpPr txBox="1"/>
          <p:nvPr/>
        </p:nvSpPr>
        <p:spPr>
          <a:xfrm>
            <a:off x="3851275" y="4921885"/>
            <a:ext cx="660400" cy="294005"/>
          </a:xfrm>
          <a:prstGeom prst="rect">
            <a:avLst/>
          </a:prstGeom>
          <a:noFill/>
        </p:spPr>
        <p:txBody>
          <a:bodyPr wrap="square" rtlCol="0">
            <a:noAutofit/>
          </a:bodyPr>
          <a:lstStyle/>
          <a:p>
            <a:r>
              <a:rPr lang="zh-CN" altLang="en-US" sz="600" b="1">
                <a:solidFill>
                  <a:schemeClr val="bg1"/>
                </a:solidFill>
                <a:highlight>
                  <a:srgbClr val="00FF00"/>
                </a:highlight>
                <a:latin typeface="微软雅黑" panose="020B0503020204020204" charset="-122"/>
                <a:ea typeface="微软雅黑" panose="020B0503020204020204" charset="-122"/>
              </a:rPr>
              <a:t>扫码反馈</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pic>
        <p:nvPicPr>
          <p:cNvPr id="8" name="d08af3a56cd5c303ad850a19254e7c7d">
            <a:hlinkClick r:id="" action="ppaction://media"/>
          </p:cNvPr>
          <p:cNvPicPr/>
          <p:nvPr>
            <a:videoFile r:link="rId2"/>
            <p:extLst>
              <p:ext uri="{DAA4B4D4-6D71-4841-9C94-3DE7FCFB9230}">
                <p14:media xmlns:p14="http://schemas.microsoft.com/office/powerpoint/2010/main" r:embed="rId1"/>
              </p:ext>
            </p:extLst>
          </p:nvPr>
        </p:nvPicPr>
        <p:blipFill>
          <a:blip r:embed="rId6"/>
          <a:stretch>
            <a:fillRect/>
          </a:stretch>
        </p:blipFill>
        <p:spPr>
          <a:xfrm>
            <a:off x="4420870" y="40640"/>
            <a:ext cx="3237865" cy="6817360"/>
          </a:xfrm>
          <a:prstGeom prst="rect">
            <a:avLst/>
          </a:prstGeom>
        </p:spPr>
      </p:pic>
    </p:spTree>
  </p:cSld>
  <p:clrMapOvr>
    <a:masterClrMapping/>
  </p:clrMapOvr>
  <p:timing>
    <p:tnLst>
      <p:par>
        <p:cTn id="1" dur="indefinite" restart="never" nodeType="tmRoot">
          <p:childTnLst>
            <p:video>
              <p:cMediaNode vol="100000">
                <p:cTn id="2" fill="hold" display="1">
                  <p:stCondLst>
                    <p:cond delay="indefinite"/>
                  </p:stCondLst>
                </p:cTn>
                <p:tgtEl>
                  <p:spTgt spid="8"/>
                </p:tgtEl>
              </p:cMediaNode>
            </p:video>
            <p:seq concurrent="1" nextAc="seek">
              <p:cTn id="3" restart="whenNotActive" fill="hold" evtFilter="cancelBubble" nodeType="interactiveSeq">
                <p:stCondLst>
                  <p:cond evt="onClick" delay="0">
                    <p:tgtEl>
                      <p:spTgt spid="8"/>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7" name="AutoShape 14"/>
          <p:cNvSpPr/>
          <p:nvPr/>
        </p:nvSpPr>
        <p:spPr>
          <a:xfrm>
            <a:off x="600710" y="1952625"/>
            <a:ext cx="5080000" cy="4655820"/>
          </a:xfrm>
          <a:prstGeom prst="roundRect">
            <a:avLst>
              <a:gd name="adj" fmla="val 4705"/>
            </a:avLst>
          </a:prstGeom>
          <a:solidFill>
            <a:srgbClr val="FFFFFF">
              <a:alpha val="95000"/>
            </a:srgbClr>
          </a:solidFill>
          <a:ln w="25400" cap="flat" cmpd="sng">
            <a:noFill/>
            <a:prstDash val="solid"/>
            <a:round/>
          </a:ln>
          <a:effectLst>
            <a:outerShdw blurRad="254000" dist="101600" dir="2700000" algn="tl" rotWithShape="0">
              <a:srgbClr val="000000">
                <a:alpha val="15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AutoShape 3"/>
          <p:cNvSpPr/>
          <p:nvPr/>
        </p:nvSpPr>
        <p:spPr>
          <a:xfrm>
            <a:off x="600710" y="993775"/>
            <a:ext cx="10668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3200" b="1" i="0" u="none" strike="noStrike" kern="0" cap="none" spc="0" normalizeH="0" baseline="0" noProof="0">
                <a:ln>
                  <a:noFill/>
                </a:ln>
                <a:solidFill>
                  <a:srgbClr val="37415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应用场景：全场景覆盖的卫生管理方案</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5" name="AutoShape 5"/>
          <p:cNvSpPr/>
          <p:nvPr/>
        </p:nvSpPr>
        <p:spPr>
          <a:xfrm>
            <a:off x="600710" y="1882775"/>
            <a:ext cx="5080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6" name="AutoShape 6"/>
          <p:cNvSpPr/>
          <p:nvPr/>
        </p:nvSpPr>
        <p:spPr>
          <a:xfrm>
            <a:off x="854710" y="2136775"/>
            <a:ext cx="4572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600" b="1" i="0" u="none" strike="noStrike" kern="0" cap="none" spc="0" normalizeH="0" baseline="0" noProof="0">
                <a:ln>
                  <a:noFill/>
                </a:ln>
                <a:solidFill>
                  <a:srgbClr val="10B98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 核心</a:t>
            </a:r>
            <a:r>
              <a:rPr kumimoji="0" lang="zh-CN" altLang="en-US" sz="1600" b="1" i="0" u="none" strike="noStrike" kern="0" cap="none" spc="0" normalizeH="0" baseline="0" noProof="0">
                <a:ln>
                  <a:noFill/>
                </a:ln>
                <a:solidFill>
                  <a:srgbClr val="10B98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场景</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7" name="AutoShape 7"/>
          <p:cNvSpPr/>
          <p:nvPr/>
        </p:nvSpPr>
        <p:spPr>
          <a:xfrm>
            <a:off x="854710" y="2962910"/>
            <a:ext cx="4572000" cy="142875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17000"/>
              </a:lnSpc>
              <a:spcBef>
                <a:spcPts val="0"/>
              </a:spcBef>
              <a:spcAft>
                <a:spcPts val="0"/>
              </a:spcAft>
              <a:buClr>
                <a:srgbClr val="000000"/>
              </a:buClr>
              <a:buSzTx/>
              <a:buFont typeface="Arial" panose="020B0604020202020204"/>
              <a:buNone/>
              <a:defRPr/>
            </a:pPr>
            <a:endParaRPr kumimoji="0" lang="en-US" sz="1200" b="1"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marR="0" lvl="0" indent="0" algn="l" defTabSz="914400" rtl="0" eaLnBrk="1" fontAlgn="auto" latinLnBrk="0" hangingPunct="1">
              <a:lnSpc>
                <a:spcPct val="117000"/>
              </a:lnSpc>
              <a:spcBef>
                <a:spcPts val="0"/>
              </a:spcBef>
              <a:spcAft>
                <a:spcPts val="0"/>
              </a:spcAft>
              <a:buClr>
                <a:srgbClr val="000000"/>
              </a:buClr>
              <a:buSzTx/>
              <a:buFont typeface="Arial" panose="020B0604020202020204"/>
              <a:buNone/>
              <a:defRPr/>
            </a:pPr>
            <a:endParaRPr kumimoji="0" lang="en-US" sz="1200" b="1"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marR="0" lvl="0" indent="0" algn="l" defTabSz="914400" rtl="0" eaLnBrk="1" fontAlgn="auto" latinLnBrk="0" hangingPunct="1">
              <a:lnSpc>
                <a:spcPct val="117000"/>
              </a:lnSpc>
              <a:spcBef>
                <a:spcPts val="0"/>
              </a:spcBef>
              <a:spcAft>
                <a:spcPts val="0"/>
              </a:spcAft>
              <a:buClr>
                <a:srgbClr val="000000"/>
              </a:buClr>
              <a:buSzTx/>
              <a:buFont typeface="Arial" panose="020B0604020202020204"/>
              <a:buNone/>
              <a:defRPr/>
            </a:pPr>
            <a:r>
              <a:rPr kumimoji="0" lang="en-US" sz="1200" b="1"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适用于各类对卫生要求高的健身场所，</a:t>
            </a:r>
            <a:r>
              <a:rPr kumimoji="0" lang="en-US" sz="12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通过数字化工具打通会员反馈与清洁响应闭环，全面提升场馆卫生标准与用户体验。</a:t>
            </a:r>
          </a:p>
          <a:p>
            <a:pPr marL="0" marR="0" lvl="0" indent="0" algn="l" defTabSz="914400" rtl="0" eaLnBrk="1" fontAlgn="auto" latinLnBrk="0" hangingPunct="1">
              <a:lnSpc>
                <a:spcPct val="117000"/>
              </a:lnSpc>
              <a:spcBef>
                <a:spcPts val="0"/>
              </a:spcBef>
              <a:spcAft>
                <a:spcPts val="0"/>
              </a:spcAft>
              <a:buClr>
                <a:srgbClr val="000000"/>
              </a:buClr>
              <a:buSzTx/>
              <a:buFont typeface="Arial" panose="020B0604020202020204"/>
              <a:buNone/>
              <a:defRPr/>
            </a:pPr>
            <a:endParaRPr kumimoji="0" lang="en-US" sz="12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marR="0" lvl="0" indent="0" algn="l" defTabSz="914400" rtl="0" eaLnBrk="1" fontAlgn="auto" latinLnBrk="0" hangingPunct="1">
              <a:lnSpc>
                <a:spcPct val="117000"/>
              </a:lnSpc>
              <a:spcBef>
                <a:spcPts val="0"/>
              </a:spcBef>
              <a:spcAft>
                <a:spcPts val="0"/>
              </a:spcAft>
              <a:buClr>
                <a:srgbClr val="000000"/>
              </a:buClr>
              <a:buSzTx/>
              <a:buFont typeface="Arial" panose="020B0604020202020204"/>
              <a:buNone/>
              <a:defRPr/>
            </a:pPr>
            <a:r>
              <a:rPr kumimoji="0" lang="en-US" sz="12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会员在使用哑铃、杠铃、器械时，可随时上报汗渍、污渍等问题，确保每位用户都能使用到干净的器械。</a:t>
            </a:r>
            <a:endParaRPr kumimoji="0" lang="en-US"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a:p>
            <a:pPr marL="0" marR="0" lvl="0" indent="0" algn="l" defTabSz="914400" rtl="0" eaLnBrk="1" fontAlgn="auto" latinLnBrk="0" hangingPunct="1">
              <a:lnSpc>
                <a:spcPct val="117000"/>
              </a:lnSpc>
              <a:spcBef>
                <a:spcPts val="0"/>
              </a:spcBef>
              <a:spcAft>
                <a:spcPts val="0"/>
              </a:spcAft>
              <a:buClr>
                <a:srgbClr val="000000"/>
              </a:buClr>
              <a:buSzTx/>
              <a:buFont typeface="Arial" panose="020B0604020202020204"/>
              <a:buNone/>
              <a:defRPr/>
            </a:pPr>
            <a:endParaRPr kumimoji="0" lang="en-US" sz="12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marR="0" lvl="0" indent="0" algn="l" defTabSz="914400" rtl="0" eaLnBrk="1" fontAlgn="auto" latinLnBrk="0" hangingPunct="1">
              <a:lnSpc>
                <a:spcPct val="117000"/>
              </a:lnSpc>
              <a:spcBef>
                <a:spcPts val="0"/>
              </a:spcBef>
              <a:spcAft>
                <a:spcPts val="0"/>
              </a:spcAft>
              <a:buClr>
                <a:srgbClr val="000000"/>
              </a:buClr>
              <a:buSzTx/>
              <a:buFont typeface="Arial" panose="020B0604020202020204"/>
              <a:buNone/>
              <a:defRPr/>
            </a:pP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2" name="AutoShape 14"/>
          <p:cNvSpPr/>
          <p:nvPr/>
        </p:nvSpPr>
        <p:spPr>
          <a:xfrm>
            <a:off x="6144260" y="1882775"/>
            <a:ext cx="5080000" cy="4655820"/>
          </a:xfrm>
          <a:prstGeom prst="roundRect">
            <a:avLst>
              <a:gd name="adj" fmla="val 4705"/>
            </a:avLst>
          </a:prstGeom>
          <a:solidFill>
            <a:srgbClr val="FFFFFF">
              <a:alpha val="95000"/>
            </a:srgbClr>
          </a:solidFill>
          <a:ln w="25400" cap="flat" cmpd="sng">
            <a:noFill/>
            <a:prstDash val="solid"/>
            <a:round/>
          </a:ln>
          <a:effectLst>
            <a:outerShdw blurRad="254000" dist="101600" dir="2700000" algn="tl" rotWithShape="0">
              <a:srgbClr val="000000">
                <a:alpha val="15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4" name="AutoShape 5"/>
          <p:cNvSpPr/>
          <p:nvPr/>
        </p:nvSpPr>
        <p:spPr>
          <a:xfrm>
            <a:off x="6144260" y="1876425"/>
            <a:ext cx="5080000" cy="76200"/>
          </a:xfrm>
          <a:prstGeom prst="roundRect">
            <a:avLst>
              <a:gd name="adj" fmla="val 0"/>
            </a:avLst>
          </a:prstGeom>
          <a:solidFill>
            <a:schemeClr val="accent2"/>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6" name="AutoShape 16"/>
          <p:cNvSpPr/>
          <p:nvPr/>
        </p:nvSpPr>
        <p:spPr>
          <a:xfrm>
            <a:off x="6540500" y="2611755"/>
            <a:ext cx="4191000" cy="3175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a:ln>
                  <a:noFill/>
                </a:ln>
                <a:solidFill>
                  <a:srgbClr val="10B980"/>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 游泳馆与更衣室</a:t>
            </a:r>
          </a:p>
        </p:txBody>
      </p:sp>
      <p:sp>
        <p:nvSpPr>
          <p:cNvPr id="27" name="AutoShape 17"/>
          <p:cNvSpPr/>
          <p:nvPr/>
        </p:nvSpPr>
        <p:spPr>
          <a:xfrm>
            <a:off x="6540500" y="2856230"/>
            <a:ext cx="41910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8000"/>
              </a:lnSpc>
              <a:spcBef>
                <a:spcPts val="0"/>
              </a:spcBef>
              <a:spcAft>
                <a:spcPts val="0"/>
              </a:spcAft>
              <a:buClr>
                <a:srgbClr val="000000"/>
              </a:buClr>
              <a:buSzTx/>
              <a:buFont typeface="Arial" panose="020B0604020202020204"/>
              <a:buNone/>
              <a:defRPr/>
            </a:pPr>
            <a:r>
              <a:rPr kumimoji="0" lang="en-US" sz="11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针对淋浴间、更衣室等潮湿环境，会员可快速上报地面水渍、清洁死角等问题，保障场馆环境安全，降低意外风险。</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8" name="AutoShape 6"/>
          <p:cNvSpPr/>
          <p:nvPr/>
        </p:nvSpPr>
        <p:spPr>
          <a:xfrm>
            <a:off x="6398260" y="2136775"/>
            <a:ext cx="4572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600" b="1" i="0" u="none" strike="noStrike" kern="0" cap="none" spc="0" normalizeH="0" baseline="0" noProof="0">
                <a:ln>
                  <a:noFill/>
                </a:ln>
                <a:solidFill>
                  <a:srgbClr val="10B98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 </a:t>
            </a:r>
            <a:r>
              <a:rPr kumimoji="0" lang="zh-CN" altLang="en-US" sz="1600" b="1" i="0" u="none" strike="noStrike" kern="0" cap="none" spc="0" normalizeH="0" baseline="0" noProof="0">
                <a:ln>
                  <a:noFill/>
                </a:ln>
                <a:solidFill>
                  <a:srgbClr val="10B98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拓展场景</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52" name="AutoShape 12"/>
          <p:cNvSpPr/>
          <p:nvPr/>
        </p:nvSpPr>
        <p:spPr>
          <a:xfrm>
            <a:off x="6494780" y="3646170"/>
            <a:ext cx="4572000" cy="3175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a:ln>
                  <a:noFill/>
                </a:ln>
                <a:solidFill>
                  <a:srgbClr val="10B98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 瑜伽馆与操课室</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53" name="AutoShape 13"/>
          <p:cNvSpPr/>
          <p:nvPr/>
        </p:nvSpPr>
        <p:spPr>
          <a:xfrm>
            <a:off x="6446520" y="3935730"/>
            <a:ext cx="4572000" cy="6985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8000"/>
              </a:lnSpc>
              <a:spcBef>
                <a:spcPts val="0"/>
              </a:spcBef>
              <a:spcAft>
                <a:spcPts val="0"/>
              </a:spcAft>
              <a:buClr>
                <a:srgbClr val="000000"/>
              </a:buClr>
              <a:buSzTx/>
              <a:buFont typeface="Arial" panose="020B0604020202020204"/>
              <a:buNone/>
              <a:defRPr/>
            </a:pPr>
            <a:r>
              <a:rPr kumimoji="0" lang="en-US" sz="11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瑜伽垫、健身球等公用物品，可通过扫码快速反馈卫生问题，从细节处提升会员的健身体验和环境安全感。</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56" name="AutoShape 12"/>
          <p:cNvSpPr/>
          <p:nvPr/>
        </p:nvSpPr>
        <p:spPr>
          <a:xfrm>
            <a:off x="854710" y="2645410"/>
            <a:ext cx="4572000" cy="3175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zh-CN" altLang="en-US" sz="1400" b="1" i="0" u="none" strike="noStrike" kern="0" cap="none" spc="0" normalizeH="0" baseline="0" noProof="0">
                <a:ln>
                  <a:noFill/>
                </a:ln>
                <a:solidFill>
                  <a:srgbClr val="10B98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a:t>
            </a:r>
            <a:r>
              <a:rPr kumimoji="0" lang="en-US" altLang="zh-CN" sz="1400" b="1" i="0" u="none" strike="noStrike" kern="0" cap="none" spc="0" normalizeH="0" baseline="0" noProof="0">
                <a:ln>
                  <a:noFill/>
                </a:ln>
                <a:solidFill>
                  <a:srgbClr val="10B98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  </a:t>
            </a:r>
            <a:r>
              <a:rPr kumimoji="0" lang="zh-CN" altLang="en-US" sz="1400" b="1" i="0" u="none" strike="noStrike" kern="0" cap="none" spc="0" normalizeH="0" baseline="0" noProof="0">
                <a:ln>
                  <a:noFill/>
                </a:ln>
                <a:solidFill>
                  <a:srgbClr val="10B98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健身房</a:t>
            </a:r>
          </a:p>
        </p:txBody>
      </p:sp>
      <p:pic>
        <p:nvPicPr>
          <p:cNvPr id="59" name="图片 58"/>
          <p:cNvPicPr/>
          <p:nvPr/>
        </p:nvPicPr>
        <p:blipFill>
          <a:blip r:embed="rId4"/>
          <a:stretch>
            <a:fillRect/>
          </a:stretch>
        </p:blipFill>
        <p:spPr>
          <a:xfrm>
            <a:off x="1677670" y="4634230"/>
            <a:ext cx="2615565" cy="1744345"/>
          </a:xfrm>
          <a:prstGeom prst="rect">
            <a:avLst/>
          </a:prstGeom>
        </p:spPr>
      </p:pic>
      <p:pic>
        <p:nvPicPr>
          <p:cNvPr id="60" name="图片 59"/>
          <p:cNvPicPr/>
          <p:nvPr/>
        </p:nvPicPr>
        <p:blipFill>
          <a:blip r:embed="rId5"/>
          <a:stretch>
            <a:fillRect/>
          </a:stretch>
        </p:blipFill>
        <p:spPr>
          <a:xfrm>
            <a:off x="7468235" y="4578985"/>
            <a:ext cx="2625090" cy="17437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20" name="AutoShape 5"/>
          <p:cNvSpPr/>
          <p:nvPr>
            <p:custDataLst>
              <p:tags r:id="rId1"/>
            </p:custDataLst>
          </p:nvPr>
        </p:nvSpPr>
        <p:spPr>
          <a:xfrm>
            <a:off x="762000" y="2698750"/>
            <a:ext cx="3302000" cy="3248025"/>
          </a:xfrm>
          <a:prstGeom prst="roundRect">
            <a:avLst>
              <a:gd name="adj" fmla="val 4615"/>
            </a:avLst>
          </a:prstGeom>
          <a:solidFill>
            <a:srgbClr val="FFFFFF">
              <a:alpha val="95000"/>
            </a:srgbClr>
          </a:solidFill>
          <a:ln w="25400" cap="flat" cmpd="sng">
            <a:noFill/>
            <a:prstDash val="solid"/>
            <a:round/>
          </a:ln>
          <a:effectLst>
            <a:outerShdw blurRad="254000" dist="63500" dir="54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1" name="AutoShape 10"/>
          <p:cNvSpPr/>
          <p:nvPr>
            <p:custDataLst>
              <p:tags r:id="rId2"/>
            </p:custDataLst>
          </p:nvPr>
        </p:nvSpPr>
        <p:spPr>
          <a:xfrm>
            <a:off x="4445000" y="2698750"/>
            <a:ext cx="3302000" cy="3247390"/>
          </a:xfrm>
          <a:prstGeom prst="roundRect">
            <a:avLst>
              <a:gd name="adj" fmla="val 4615"/>
            </a:avLst>
          </a:prstGeom>
          <a:solidFill>
            <a:srgbClr val="FFFFFF">
              <a:alpha val="95000"/>
            </a:srgbClr>
          </a:solidFill>
          <a:ln w="25400" cap="flat" cmpd="sng">
            <a:noFill/>
            <a:prstDash val="solid"/>
            <a:round/>
          </a:ln>
          <a:effectLst>
            <a:outerShdw blurRad="254000" dist="63500" dir="54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3" name="AutoShape 15"/>
          <p:cNvSpPr/>
          <p:nvPr>
            <p:custDataLst>
              <p:tags r:id="rId3"/>
            </p:custDataLst>
          </p:nvPr>
        </p:nvSpPr>
        <p:spPr>
          <a:xfrm>
            <a:off x="8128000" y="2698750"/>
            <a:ext cx="3302000" cy="3248025"/>
          </a:xfrm>
          <a:prstGeom prst="roundRect">
            <a:avLst>
              <a:gd name="adj" fmla="val 4615"/>
            </a:avLst>
          </a:prstGeom>
          <a:solidFill>
            <a:srgbClr val="FFFFFF">
              <a:alpha val="95000"/>
            </a:srgbClr>
          </a:solidFill>
          <a:ln w="25400" cap="flat" cmpd="sng">
            <a:noFill/>
            <a:prstDash val="solid"/>
            <a:round/>
          </a:ln>
          <a:effectLst>
            <a:outerShdw blurRad="254000" dist="63500" dir="54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8"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2952750"/>
            <a:ext cx="609600" cy="609600"/>
          </a:xfrm>
          <a:prstGeom prst="rect">
            <a:avLst/>
          </a:prstGeom>
        </p:spPr>
      </p:pic>
      <p:sp>
        <p:nvSpPr>
          <p:cNvPr id="9" name="AutoShape 7"/>
          <p:cNvSpPr/>
          <p:nvPr/>
        </p:nvSpPr>
        <p:spPr>
          <a:xfrm>
            <a:off x="1778000" y="3003550"/>
            <a:ext cx="2159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600" b="1" i="0" u="none" strike="noStrike" kern="0" cap="none" spc="0" normalizeH="0" baseline="0" noProof="0">
                <a:ln>
                  <a:noFill/>
                </a:ln>
                <a:solidFill>
                  <a:srgbClr val="10B98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C端驱动的反向管理</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0" name="AutoShape 8"/>
          <p:cNvSpPr/>
          <p:nvPr/>
        </p:nvSpPr>
        <p:spPr>
          <a:xfrm>
            <a:off x="1016000" y="3841750"/>
            <a:ext cx="2794000" cy="1651000"/>
          </a:xfrm>
          <a:prstGeom prst="roundRect">
            <a:avLst>
              <a:gd name="adj" fmla="val 6153"/>
            </a:avLst>
          </a:prstGeom>
          <a:solidFill>
            <a:srgbClr val="ECFDF5">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1" name="AutoShape 9"/>
          <p:cNvSpPr/>
          <p:nvPr/>
        </p:nvSpPr>
        <p:spPr>
          <a:xfrm>
            <a:off x="1143000" y="3968750"/>
            <a:ext cx="2540000" cy="1397000"/>
          </a:xfrm>
          <a:prstGeom prst="rect">
            <a:avLst/>
          </a:prstGeom>
          <a:noFill/>
          <a:ln w="12700" cap="flat" cmpd="sng">
            <a:noFill/>
            <a:prstDash val="solid"/>
            <a:round/>
          </a:ln>
        </p:spPr>
        <p:txBody>
          <a:bodyPr vert="horz" wrap="square" lIns="63500" tIns="63500" rIns="63500" bIns="63500" rtlCol="0" anchor="ctr" anchorCtr="0"/>
          <a:lstStyle/>
          <a:p>
            <a:pPr marL="0" marR="0" lvl="0" indent="0" algn="l" defTabSz="914400" rtl="0" eaLnBrk="1" fontAlgn="auto" latinLnBrk="0" hangingPunct="1">
              <a:lnSpc>
                <a:spcPct val="117000"/>
              </a:lnSpc>
              <a:spcBef>
                <a:spcPts val="0"/>
              </a:spcBef>
              <a:spcAft>
                <a:spcPts val="0"/>
              </a:spcAft>
              <a:buClr>
                <a:srgbClr val="000000"/>
              </a:buClr>
              <a:buSzTx/>
              <a:buFont typeface="Arial" panose="020B0604020202020204"/>
              <a:buNone/>
              <a:defRPr/>
            </a:pPr>
            <a:r>
              <a:rPr kumimoji="0" lang="en-US" sz="12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将会员转变为全时段在线的“卫生监督员”，实现信息流从C端到B端的反向驱动，极大提升问题发现效率和覆盖范围。</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12"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99000" y="2952750"/>
            <a:ext cx="609600" cy="609600"/>
          </a:xfrm>
          <a:prstGeom prst="rect">
            <a:avLst/>
          </a:prstGeom>
        </p:spPr>
      </p:pic>
      <p:sp>
        <p:nvSpPr>
          <p:cNvPr id="13" name="AutoShape 12"/>
          <p:cNvSpPr/>
          <p:nvPr/>
        </p:nvSpPr>
        <p:spPr>
          <a:xfrm>
            <a:off x="5461000" y="3003550"/>
            <a:ext cx="2159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600" b="1" i="0" u="none" strike="noStrike" kern="0" cap="none" spc="0" normalizeH="0" baseline="0" noProof="0">
                <a:ln>
                  <a:noFill/>
                </a:ln>
                <a:solidFill>
                  <a:srgbClr val="10B98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完整的服务闭环链路</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4" name="AutoShape 13"/>
          <p:cNvSpPr/>
          <p:nvPr/>
        </p:nvSpPr>
        <p:spPr>
          <a:xfrm>
            <a:off x="4699000" y="3841750"/>
            <a:ext cx="2794000" cy="1651000"/>
          </a:xfrm>
          <a:prstGeom prst="roundRect">
            <a:avLst>
              <a:gd name="adj" fmla="val 6153"/>
            </a:avLst>
          </a:prstGeom>
          <a:solidFill>
            <a:srgbClr val="ECFDF5">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5" name="AutoShape 14"/>
          <p:cNvSpPr/>
          <p:nvPr/>
        </p:nvSpPr>
        <p:spPr>
          <a:xfrm>
            <a:off x="4826000" y="3968750"/>
            <a:ext cx="2540000" cy="1397000"/>
          </a:xfrm>
          <a:prstGeom prst="rect">
            <a:avLst/>
          </a:prstGeom>
          <a:noFill/>
          <a:ln w="12700" cap="flat" cmpd="sng">
            <a:noFill/>
            <a:prstDash val="solid"/>
            <a:round/>
          </a:ln>
        </p:spPr>
        <p:txBody>
          <a:bodyPr vert="horz" wrap="square" lIns="63500" tIns="63500" rIns="63500" bIns="63500" rtlCol="0" anchor="ctr" anchorCtr="0"/>
          <a:lstStyle/>
          <a:p>
            <a:pPr marL="0" marR="0" lvl="0" indent="0" algn="l" defTabSz="914400" rtl="0" eaLnBrk="1" fontAlgn="auto" latinLnBrk="0" hangingPunct="1">
              <a:lnSpc>
                <a:spcPct val="117000"/>
              </a:lnSpc>
              <a:spcBef>
                <a:spcPts val="0"/>
              </a:spcBef>
              <a:spcAft>
                <a:spcPts val="0"/>
              </a:spcAft>
              <a:buClr>
                <a:srgbClr val="000000"/>
              </a:buClr>
              <a:buSzTx/>
              <a:buFont typeface="Arial" panose="020B0604020202020204"/>
              <a:buNone/>
              <a:defRPr/>
            </a:pPr>
            <a:r>
              <a:rPr kumimoji="0" lang="en-US" sz="12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构建从“发现”到“评价”的完整闭环，确保每一个问题都得到处理和反馈，让服务质量不再是黑盒，为管理优化提供真实数据。</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82000" y="2952750"/>
            <a:ext cx="609600" cy="609600"/>
          </a:xfrm>
          <a:prstGeom prst="rect">
            <a:avLst/>
          </a:prstGeom>
        </p:spPr>
      </p:pic>
      <p:sp>
        <p:nvSpPr>
          <p:cNvPr id="17" name="AutoShape 17"/>
          <p:cNvSpPr/>
          <p:nvPr/>
        </p:nvSpPr>
        <p:spPr>
          <a:xfrm>
            <a:off x="9144000" y="3003550"/>
            <a:ext cx="2159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600" b="1" i="0" u="none" strike="noStrike" kern="0" cap="none" spc="0" normalizeH="0" baseline="0" noProof="0">
                <a:ln>
                  <a:noFill/>
                </a:ln>
                <a:solidFill>
                  <a:srgbClr val="10B98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匿名机制消除顾虑</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8" name="AutoShape 18"/>
          <p:cNvSpPr/>
          <p:nvPr/>
        </p:nvSpPr>
        <p:spPr>
          <a:xfrm>
            <a:off x="8382000" y="3841750"/>
            <a:ext cx="2794000" cy="1651000"/>
          </a:xfrm>
          <a:prstGeom prst="roundRect">
            <a:avLst>
              <a:gd name="adj" fmla="val 6153"/>
            </a:avLst>
          </a:prstGeom>
          <a:solidFill>
            <a:srgbClr val="ECFDF5">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9" name="AutoShape 19"/>
          <p:cNvSpPr/>
          <p:nvPr/>
        </p:nvSpPr>
        <p:spPr>
          <a:xfrm>
            <a:off x="8509000" y="3968750"/>
            <a:ext cx="2540000" cy="1397000"/>
          </a:xfrm>
          <a:prstGeom prst="rect">
            <a:avLst/>
          </a:prstGeom>
          <a:noFill/>
          <a:ln w="12700" cap="flat" cmpd="sng">
            <a:noFill/>
            <a:prstDash val="solid"/>
            <a:round/>
          </a:ln>
        </p:spPr>
        <p:txBody>
          <a:bodyPr vert="horz" wrap="square" lIns="63500" tIns="63500" rIns="63500" bIns="63500" rtlCol="0" anchor="ctr" anchorCtr="0"/>
          <a:lstStyle/>
          <a:p>
            <a:pPr marL="0" marR="0" lvl="0" indent="0" algn="l" defTabSz="914400" rtl="0" eaLnBrk="1" fontAlgn="auto" latinLnBrk="0" hangingPunct="1">
              <a:lnSpc>
                <a:spcPct val="117000"/>
              </a:lnSpc>
              <a:spcBef>
                <a:spcPts val="0"/>
              </a:spcBef>
              <a:spcAft>
                <a:spcPts val="0"/>
              </a:spcAft>
              <a:buClr>
                <a:srgbClr val="000000"/>
              </a:buClr>
              <a:buSzTx/>
              <a:buFont typeface="Arial" panose="020B0604020202020204"/>
              <a:buNone/>
              <a:defRPr/>
            </a:pPr>
            <a:r>
              <a:rPr kumimoji="0" lang="en-US" sz="12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通过物理按键或匿名小程序提交反馈，彻底打消“怕麻烦”、“怕得罪人”的顾虑，鼓励用户积极参与，真正听到用户的真实声音。</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5" name="AutoShape 3"/>
          <p:cNvSpPr/>
          <p:nvPr/>
        </p:nvSpPr>
        <p:spPr>
          <a:xfrm>
            <a:off x="600710" y="993775"/>
            <a:ext cx="10668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zh-CN" altLang="en-US" sz="3200" b="1" i="0" u="none" strike="noStrike" kern="0" cap="none" spc="0" normalizeH="0" baseline="0" noProof="0">
                <a:ln>
                  <a:noFill/>
                </a:ln>
                <a:solidFill>
                  <a:srgbClr val="37415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独特优势</a:t>
            </a:r>
            <a:r>
              <a:rPr kumimoji="0" lang="en-US" sz="3200" b="1" i="0" u="none" strike="noStrike" kern="0" cap="none" spc="0" normalizeH="0" baseline="0" noProof="0">
                <a:ln>
                  <a:noFill/>
                </a:ln>
                <a:solidFill>
                  <a:srgbClr val="37415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a:t>
            </a:r>
            <a:r>
              <a:rPr kumimoji="0" lang="zh-CN" altLang="en-US" sz="3200" b="1" i="0" u="none" strike="noStrike" kern="0" cap="none" spc="0" normalizeH="0" baseline="0" noProof="0">
                <a:ln>
                  <a:noFill/>
                </a:ln>
                <a:solidFill>
                  <a:srgbClr val="37415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三大核心优势，赋能精细化运营</a:t>
            </a:r>
            <a:endParaRPr kumimoji="0" lang="zh-CN" altLang="en-US" sz="3200" b="1" i="0" u="none" strike="noStrike" kern="0" cap="none" spc="0" normalizeH="0" baseline="0" noProof="0">
              <a:ln>
                <a:noFill/>
              </a:ln>
              <a:solidFill>
                <a:srgbClr val="374151"/>
              </a:solidFill>
              <a:effectLst/>
              <a:uLnTx/>
              <a:uFillTx/>
              <a:latin typeface="Noto Sans SC" panose="020B0200000000000000" charset="-122"/>
              <a:ea typeface="Noto Sans SC" panose="020B0200000000000000" charset="-122"/>
              <a:cs typeface="Noto Sans SC" panose="020B0200000000000000" charset="-122"/>
              <a:sym typeface="Arial" panose="020B06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AutoShape 3"/>
          <p:cNvSpPr/>
          <p:nvPr/>
        </p:nvSpPr>
        <p:spPr>
          <a:xfrm>
            <a:off x="0" y="1524000"/>
            <a:ext cx="12192000" cy="1651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2000" b="1" i="0" u="none" strike="noStrike" kern="0" cap="none" spc="0" normalizeH="0" baseline="0" noProof="0">
                <a:ln>
                  <a:noFill/>
                </a:ln>
                <a:solidFill>
                  <a:srgbClr val="22C55E"/>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 name="AutoShape 4"/>
          <p:cNvSpPr/>
          <p:nvPr/>
        </p:nvSpPr>
        <p:spPr>
          <a:xfrm>
            <a:off x="0" y="3429000"/>
            <a:ext cx="12192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4000" b="1" i="0" u="none" strike="noStrike" kern="0" cap="none" spc="0" normalizeH="0" baseline="0" noProof="0">
                <a:ln>
                  <a:noFill/>
                </a:ln>
                <a:solidFill>
                  <a:srgbClr val="1F2937"/>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商业模式</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5" name="AutoShape 5"/>
          <p:cNvSpPr/>
          <p:nvPr/>
        </p:nvSpPr>
        <p:spPr>
          <a:xfrm>
            <a:off x="5588000" y="4445000"/>
            <a:ext cx="1016000" cy="76200"/>
          </a:xfrm>
          <a:prstGeom prst="roundRect">
            <a:avLst>
              <a:gd name="adj" fmla="val 50000"/>
            </a:avLst>
          </a:prstGeom>
          <a:solidFill>
            <a:srgbClr val="22C55E">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6" name="AutoShape 6"/>
          <p:cNvSpPr/>
          <p:nvPr/>
        </p:nvSpPr>
        <p:spPr>
          <a:xfrm>
            <a:off x="0" y="4953000"/>
            <a:ext cx="12192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2200" b="0" i="0" u="none" strike="noStrike" kern="0" cap="none" spc="0" normalizeH="0" baseline="0" noProof="0">
                <a:ln>
                  <a:noFill/>
                </a:ln>
                <a:solidFill>
                  <a:srgbClr val="6B7280"/>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构建可持续的商业闭环</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AutoShape 3"/>
          <p:cNvSpPr/>
          <p:nvPr/>
        </p:nvSpPr>
        <p:spPr>
          <a:xfrm>
            <a:off x="762000" y="635000"/>
            <a:ext cx="10668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3200" b="1" i="0" u="none" strike="noStrike" kern="0" cap="none" spc="0" normalizeH="0" baseline="0" noProof="0">
                <a:ln>
                  <a:noFill/>
                </a:ln>
                <a:solidFill>
                  <a:srgbClr val="1F2937"/>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精准定位与灵活收费</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 name="AutoShape 4"/>
          <p:cNvSpPr/>
          <p:nvPr/>
        </p:nvSpPr>
        <p:spPr>
          <a:xfrm>
            <a:off x="762000" y="1524000"/>
            <a:ext cx="5207000" cy="4699000"/>
          </a:xfrm>
          <a:prstGeom prst="roundRect">
            <a:avLst>
              <a:gd name="adj" fmla="val 4324"/>
            </a:avLst>
          </a:prstGeom>
          <a:solidFill>
            <a:srgbClr val="FFFFFF">
              <a:alpha val="95000"/>
            </a:srgbClr>
          </a:solidFill>
          <a:ln w="25400" cap="flat" cmpd="sng">
            <a:noFill/>
            <a:prstDash val="solid"/>
            <a:round/>
          </a:ln>
          <a:effectLst>
            <a:outerShdw blurRad="254000" dist="50800" dir="54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5" name="AutoShape 5"/>
          <p:cNvSpPr/>
          <p:nvPr/>
        </p:nvSpPr>
        <p:spPr>
          <a:xfrm>
            <a:off x="1016000" y="1778000"/>
            <a:ext cx="4699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2000" b="1" i="0" u="none" strike="noStrike" kern="0" cap="none" spc="0" normalizeH="0" baseline="0" noProof="0">
                <a:ln>
                  <a:noFill/>
                </a:ln>
                <a:solidFill>
                  <a:srgbClr val="22C55E"/>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01 / 客户定位</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6" name="AutoShape 6"/>
          <p:cNvSpPr/>
          <p:nvPr/>
        </p:nvSpPr>
        <p:spPr>
          <a:xfrm>
            <a:off x="1016000" y="2413000"/>
            <a:ext cx="4699000" cy="1143000"/>
          </a:xfrm>
          <a:prstGeom prst="roundRect">
            <a:avLst>
              <a:gd name="adj" fmla="val 13333"/>
            </a:avLst>
          </a:prstGeom>
          <a:solidFill>
            <a:srgbClr val="F9FAFB">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7" name="AutoShape 7"/>
          <p:cNvSpPr/>
          <p:nvPr/>
        </p:nvSpPr>
        <p:spPr>
          <a:xfrm>
            <a:off x="1206500" y="2603500"/>
            <a:ext cx="609600" cy="609600"/>
          </a:xfrm>
          <a:prstGeom prst="ellipse">
            <a:avLst/>
          </a:prstGeom>
          <a:solidFill>
            <a:srgbClr val="E5E7EB">
              <a:alpha val="8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08100" y="2705100"/>
            <a:ext cx="406400" cy="406400"/>
          </a:xfrm>
          <a:prstGeom prst="rect">
            <a:avLst/>
          </a:prstGeom>
        </p:spPr>
      </p:pic>
      <p:sp>
        <p:nvSpPr>
          <p:cNvPr id="9" name="AutoShape 9"/>
          <p:cNvSpPr/>
          <p:nvPr/>
        </p:nvSpPr>
        <p:spPr>
          <a:xfrm>
            <a:off x="2032000" y="2540000"/>
            <a:ext cx="35560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a:ln>
                  <a:noFill/>
                </a:ln>
                <a:solidFill>
                  <a:srgbClr val="1F2937"/>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核心目标客群</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1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聚焦中高端连锁健身房（如威尔士、超级猩猩）及独立精品健身工作室，具备高消费能力与品质要求。</a:t>
            </a:r>
          </a:p>
        </p:txBody>
      </p:sp>
      <p:sp>
        <p:nvSpPr>
          <p:cNvPr id="10" name="AutoShape 10"/>
          <p:cNvSpPr/>
          <p:nvPr/>
        </p:nvSpPr>
        <p:spPr>
          <a:xfrm>
            <a:off x="1016000" y="3683000"/>
            <a:ext cx="4699000" cy="1143000"/>
          </a:xfrm>
          <a:prstGeom prst="roundRect">
            <a:avLst>
              <a:gd name="adj" fmla="val 13333"/>
            </a:avLst>
          </a:prstGeom>
          <a:solidFill>
            <a:srgbClr val="F9FAFB">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1" name="AutoShape 11"/>
          <p:cNvSpPr/>
          <p:nvPr/>
        </p:nvSpPr>
        <p:spPr>
          <a:xfrm>
            <a:off x="1206500" y="3873500"/>
            <a:ext cx="609600" cy="609600"/>
          </a:xfrm>
          <a:prstGeom prst="ellipse">
            <a:avLst/>
          </a:prstGeom>
          <a:solidFill>
            <a:srgbClr val="E5E7EB">
              <a:alpha val="8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08100" y="3975100"/>
            <a:ext cx="406400" cy="406400"/>
          </a:xfrm>
          <a:prstGeom prst="rect">
            <a:avLst/>
          </a:prstGeom>
        </p:spPr>
      </p:pic>
      <p:sp>
        <p:nvSpPr>
          <p:cNvPr id="13" name="AutoShape 13"/>
          <p:cNvSpPr/>
          <p:nvPr/>
        </p:nvSpPr>
        <p:spPr>
          <a:xfrm>
            <a:off x="2032000" y="3810000"/>
            <a:ext cx="35560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a:ln>
                  <a:noFill/>
                </a:ln>
                <a:solidFill>
                  <a:srgbClr val="1F2937"/>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体验敏感度高</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1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会员对环境卫生与健身体验极为关注，卫生问题将直接影响客户满意度及长期复购率。</a:t>
            </a:r>
          </a:p>
        </p:txBody>
      </p:sp>
      <p:sp>
        <p:nvSpPr>
          <p:cNvPr id="14" name="AutoShape 14"/>
          <p:cNvSpPr/>
          <p:nvPr/>
        </p:nvSpPr>
        <p:spPr>
          <a:xfrm>
            <a:off x="1016000" y="4953000"/>
            <a:ext cx="4699000" cy="1143000"/>
          </a:xfrm>
          <a:prstGeom prst="roundRect">
            <a:avLst>
              <a:gd name="adj" fmla="val 13333"/>
            </a:avLst>
          </a:prstGeom>
          <a:solidFill>
            <a:srgbClr val="F9FAFB">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5" name="AutoShape 15"/>
          <p:cNvSpPr/>
          <p:nvPr/>
        </p:nvSpPr>
        <p:spPr>
          <a:xfrm>
            <a:off x="1206500" y="5143500"/>
            <a:ext cx="609600" cy="609600"/>
          </a:xfrm>
          <a:prstGeom prst="ellipse">
            <a:avLst/>
          </a:prstGeom>
          <a:solidFill>
            <a:srgbClr val="E5E7EB">
              <a:alpha val="8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08100" y="5245100"/>
            <a:ext cx="406400" cy="406400"/>
          </a:xfrm>
          <a:prstGeom prst="rect">
            <a:avLst/>
          </a:prstGeom>
        </p:spPr>
      </p:pic>
      <p:sp>
        <p:nvSpPr>
          <p:cNvPr id="17" name="AutoShape 17"/>
          <p:cNvSpPr/>
          <p:nvPr/>
        </p:nvSpPr>
        <p:spPr>
          <a:xfrm>
            <a:off x="2032000" y="5080000"/>
            <a:ext cx="35560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a:ln>
                  <a:noFill/>
                </a:ln>
                <a:solidFill>
                  <a:srgbClr val="1F2937"/>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付费意愿明确</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1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具备一定的数字化管理基础，能够理解工具价值，愿意为能切实提升运营效率的专业解决方案付费。</a:t>
            </a:r>
          </a:p>
        </p:txBody>
      </p:sp>
      <p:sp>
        <p:nvSpPr>
          <p:cNvPr id="18" name="AutoShape 18"/>
          <p:cNvSpPr/>
          <p:nvPr/>
        </p:nvSpPr>
        <p:spPr>
          <a:xfrm>
            <a:off x="6223000" y="1524000"/>
            <a:ext cx="5207000" cy="4699000"/>
          </a:xfrm>
          <a:prstGeom prst="roundRect">
            <a:avLst>
              <a:gd name="adj" fmla="val 4324"/>
            </a:avLst>
          </a:prstGeom>
          <a:solidFill>
            <a:srgbClr val="FFFFFF">
              <a:alpha val="95000"/>
            </a:srgbClr>
          </a:solidFill>
          <a:ln w="25400" cap="flat" cmpd="sng">
            <a:noFill/>
            <a:prstDash val="solid"/>
            <a:round/>
          </a:ln>
          <a:effectLst>
            <a:outerShdw blurRad="254000" dist="50800" dir="54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9" name="AutoShape 19"/>
          <p:cNvSpPr/>
          <p:nvPr/>
        </p:nvSpPr>
        <p:spPr>
          <a:xfrm>
            <a:off x="6477000" y="1778000"/>
            <a:ext cx="4699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2000" b="1" i="0" u="none" strike="noStrike" kern="0" cap="none" spc="0" normalizeH="0" baseline="0" noProof="0">
                <a:ln>
                  <a:noFill/>
                </a:ln>
                <a:solidFill>
                  <a:srgbClr val="22C55E"/>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02 / 收费模式</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0" name="AutoShape 20"/>
          <p:cNvSpPr/>
          <p:nvPr/>
        </p:nvSpPr>
        <p:spPr>
          <a:xfrm>
            <a:off x="6477000" y="2413000"/>
            <a:ext cx="4699000" cy="1778000"/>
          </a:xfrm>
          <a:prstGeom prst="roundRect">
            <a:avLst>
              <a:gd name="adj" fmla="val 8571"/>
            </a:avLst>
          </a:prstGeom>
          <a:solidFill>
            <a:srgbClr val="F9FAFB">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1" name="AutoShape 21"/>
          <p:cNvSpPr/>
          <p:nvPr/>
        </p:nvSpPr>
        <p:spPr>
          <a:xfrm>
            <a:off x="6667500" y="2946400"/>
            <a:ext cx="711200" cy="711200"/>
          </a:xfrm>
          <a:prstGeom prst="ellipse">
            <a:avLst/>
          </a:prstGeom>
          <a:solidFill>
            <a:srgbClr val="E5E7EB">
              <a:alpha val="8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94500" y="3073400"/>
            <a:ext cx="457200" cy="457200"/>
          </a:xfrm>
          <a:prstGeom prst="rect">
            <a:avLst/>
          </a:prstGeom>
        </p:spPr>
      </p:pic>
      <p:sp>
        <p:nvSpPr>
          <p:cNvPr id="23" name="AutoShape 23"/>
          <p:cNvSpPr/>
          <p:nvPr/>
        </p:nvSpPr>
        <p:spPr>
          <a:xfrm>
            <a:off x="7620000" y="2540000"/>
            <a:ext cx="3429000" cy="1524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a:ln>
                  <a:noFill/>
                </a:ln>
                <a:solidFill>
                  <a:srgbClr val="1F2937"/>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“基础+增值”分层体系</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a:p>
            <a:pPr marL="0" marR="0" lvl="0" indent="0" algn="l" defTabSz="914400" rtl="0" eaLnBrk="1" fontAlgn="auto" latinLnBrk="0" hangingPunct="1">
              <a:lnSpc>
                <a:spcPct val="108000"/>
              </a:lnSpc>
              <a:spcBef>
                <a:spcPts val="0"/>
              </a:spcBef>
              <a:spcAft>
                <a:spcPts val="0"/>
              </a:spcAft>
              <a:buClr>
                <a:srgbClr val="000000"/>
              </a:buClr>
              <a:buSzTx/>
              <a:buFont typeface="Arial" panose="020B0604020202020204"/>
              <a:buNone/>
              <a:defRPr/>
            </a:pPr>
            <a:r>
              <a:rPr kumimoji="0" lang="en-US" sz="1100" b="1"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基础版 (</a:t>
            </a:r>
            <a:r>
              <a:rPr kumimoji="0" lang="zh-CN" altLang="en-US" sz="1100" b="1"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拟</a:t>
            </a:r>
            <a:r>
              <a:rPr kumimoji="0" lang="en-US" sz="1100" b="1"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¥9,800/年):</a:t>
            </a:r>
            <a:r>
              <a:rPr kumimoji="0" lang="en-US" sz="11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含小程序用户端与管理端全功能，支持单店500会员，降低入门门槛。</a:t>
            </a:r>
          </a:p>
          <a:p>
            <a:pPr marL="0" marR="0" lvl="0" indent="0" algn="l" defTabSz="914400" rtl="0" eaLnBrk="1" fontAlgn="auto" latinLnBrk="0" hangingPunct="1">
              <a:lnSpc>
                <a:spcPct val="108000"/>
              </a:lnSpc>
              <a:spcBef>
                <a:spcPts val="0"/>
              </a:spcBef>
              <a:spcAft>
                <a:spcPts val="0"/>
              </a:spcAft>
              <a:buClr>
                <a:srgbClr val="000000"/>
              </a:buClr>
              <a:buSzTx/>
              <a:buFont typeface="Arial" panose="020B0604020202020204"/>
              <a:buNone/>
              <a:defRPr/>
            </a:pPr>
            <a:r>
              <a:rPr kumimoji="0" lang="en-US" sz="1100" b="1"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高级版 (</a:t>
            </a:r>
            <a:r>
              <a:rPr kumimoji="0" lang="zh-CN" altLang="en-US" sz="1100" b="1"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拟</a:t>
            </a:r>
            <a:r>
              <a:rPr kumimoji="0" lang="en-US" sz="1100" b="1"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¥19,800/年):</a:t>
            </a:r>
            <a:r>
              <a:rPr kumimoji="0" lang="en-US" sz="11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增加线下器械状态灯硬件及深度数据分析，支持多门店统一管理，提升价值感。</a:t>
            </a:r>
          </a:p>
        </p:txBody>
      </p:sp>
      <p:sp>
        <p:nvSpPr>
          <p:cNvPr id="24" name="AutoShape 24"/>
          <p:cNvSpPr/>
          <p:nvPr/>
        </p:nvSpPr>
        <p:spPr>
          <a:xfrm>
            <a:off x="6477000" y="4445000"/>
            <a:ext cx="4699000" cy="1397000"/>
          </a:xfrm>
          <a:prstGeom prst="roundRect">
            <a:avLst>
              <a:gd name="adj" fmla="val 10909"/>
            </a:avLst>
          </a:prstGeom>
          <a:solidFill>
            <a:srgbClr val="F9FAFB">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5" name="AutoShape 25"/>
          <p:cNvSpPr/>
          <p:nvPr/>
        </p:nvSpPr>
        <p:spPr>
          <a:xfrm>
            <a:off x="6667500" y="4787900"/>
            <a:ext cx="711200" cy="711200"/>
          </a:xfrm>
          <a:prstGeom prst="ellipse">
            <a:avLst/>
          </a:prstGeom>
          <a:solidFill>
            <a:srgbClr val="E5E7EB">
              <a:alpha val="8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794500" y="4914900"/>
            <a:ext cx="457200" cy="457200"/>
          </a:xfrm>
          <a:prstGeom prst="rect">
            <a:avLst/>
          </a:prstGeom>
        </p:spPr>
      </p:pic>
      <p:sp>
        <p:nvSpPr>
          <p:cNvPr id="27" name="AutoShape 27"/>
          <p:cNvSpPr/>
          <p:nvPr/>
        </p:nvSpPr>
        <p:spPr>
          <a:xfrm>
            <a:off x="7620000" y="4572000"/>
            <a:ext cx="34290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a:ln>
                  <a:noFill/>
                </a:ln>
                <a:solidFill>
                  <a:srgbClr val="1F2937"/>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连锁品牌批量激励政策</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a:p>
            <a:pPr marL="0" marR="0" lvl="0" indent="0" algn="l" defTabSz="914400" rtl="0" eaLnBrk="1" fontAlgn="auto" latinLnBrk="0" hangingPunct="1">
              <a:lnSpc>
                <a:spcPct val="108000"/>
              </a:lnSpc>
              <a:spcBef>
                <a:spcPts val="0"/>
              </a:spcBef>
              <a:spcAft>
                <a:spcPts val="0"/>
              </a:spcAft>
              <a:buClr>
                <a:srgbClr val="000000"/>
              </a:buClr>
              <a:buSzTx/>
              <a:buFont typeface="Arial" panose="020B0604020202020204"/>
              <a:buNone/>
              <a:defRPr/>
            </a:pPr>
            <a:r>
              <a:rPr kumimoji="0" lang="en-US" sz="11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针对连锁品牌，提供“3店起订享8折优惠”的批量采购政策，鼓励规模化签约，快速占领市场份额。</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3200" b="1" i="0" u="none" strike="noStrike" kern="0" cap="none" spc="0" normalizeH="0" baseline="0" noProof="0">
                <a:ln>
                  <a:noFill/>
                </a:ln>
                <a:solidFill>
                  <a:srgbClr val="1F2937"/>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持续运营策略</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 name="AutoShape 4"/>
          <p:cNvSpPr/>
          <p:nvPr>
            <p:custDataLst>
              <p:tags r:id="rId1"/>
            </p:custDataLst>
          </p:nvPr>
        </p:nvSpPr>
        <p:spPr>
          <a:xfrm>
            <a:off x="762000" y="1778000"/>
            <a:ext cx="5207000" cy="4445000"/>
          </a:xfrm>
          <a:prstGeom prst="roundRect">
            <a:avLst>
              <a:gd name="adj" fmla="val 4571"/>
            </a:avLst>
          </a:prstGeom>
          <a:solidFill>
            <a:srgbClr val="FFFFFF">
              <a:alpha val="95000"/>
            </a:srgbClr>
          </a:solidFill>
          <a:ln w="25400" cap="flat" cmpd="sng">
            <a:noFill/>
            <a:prstDash val="solid"/>
            <a:round/>
          </a:ln>
          <a:effectLst>
            <a:outerShdw blurRad="254000" dist="50800" dir="54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5" name="AutoShape 5"/>
          <p:cNvSpPr/>
          <p:nvPr>
            <p:custDataLst>
              <p:tags r:id="rId2"/>
            </p:custDataLst>
          </p:nvPr>
        </p:nvSpPr>
        <p:spPr>
          <a:xfrm>
            <a:off x="1016000" y="2032000"/>
            <a:ext cx="4699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2200" b="1" i="0" u="none" strike="noStrike" kern="0" cap="none" spc="0" normalizeH="0" baseline="0" noProof="0">
                <a:ln>
                  <a:noFill/>
                </a:ln>
                <a:solidFill>
                  <a:srgbClr val="22C55E"/>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01 / 数据反哺优化</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6" name="AutoShape 6"/>
          <p:cNvSpPr/>
          <p:nvPr>
            <p:custDataLst>
              <p:tags r:id="rId3"/>
            </p:custDataLst>
          </p:nvPr>
        </p:nvSpPr>
        <p:spPr>
          <a:xfrm>
            <a:off x="1016000" y="2921000"/>
            <a:ext cx="4699000" cy="2921000"/>
          </a:xfrm>
          <a:prstGeom prst="roundRect">
            <a:avLst>
              <a:gd name="adj" fmla="val 5217"/>
            </a:avLst>
          </a:prstGeom>
          <a:solidFill>
            <a:srgbClr val="F9FAFB">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7" name="Picture 7"/>
          <p:cNvPicPr>
            <a:picLocks noChangeAspect="1"/>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270000" y="3302000"/>
            <a:ext cx="812800" cy="812800"/>
          </a:xfrm>
          <a:prstGeom prst="rect">
            <a:avLst/>
          </a:prstGeom>
        </p:spPr>
      </p:pic>
      <p:sp>
        <p:nvSpPr>
          <p:cNvPr id="8" name="AutoShape 8"/>
          <p:cNvSpPr/>
          <p:nvPr>
            <p:custDataLst>
              <p:tags r:id="rId5"/>
            </p:custDataLst>
          </p:nvPr>
        </p:nvSpPr>
        <p:spPr>
          <a:xfrm>
            <a:off x="2413000" y="3175000"/>
            <a:ext cx="3048000" cy="2413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17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a:ln>
                  <a:noFill/>
                </a:ln>
                <a:solidFill>
                  <a:srgbClr val="1F2937"/>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提升运营效率与满意度</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2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收集用户反馈的器械卫生问题类型、区域分布等关键数据，辅助健身房精准优化保洁人员排班——例如在高峰时段针对性增加重点区域的清洁频次。</a:t>
            </a:r>
            <a:r>
              <a:rPr kumimoji="0" lang="en-US" sz="1200" b="1"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将平均清洁响应时间从30分钟大幅压缩至</a:t>
            </a:r>
            <a:r>
              <a:rPr kumimoji="0" lang="zh-CN" altLang="en-US" sz="1200" b="1"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几分钟</a:t>
            </a:r>
            <a:r>
              <a:rPr kumimoji="0" lang="en-US" sz="1200" b="1"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a:t>
            </a:r>
            <a:r>
              <a:rPr kumimoji="0" lang="en-US" sz="12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直接有效地提升会员的整体体验与满意度。</a:t>
            </a:r>
          </a:p>
        </p:txBody>
      </p:sp>
      <p:sp>
        <p:nvSpPr>
          <p:cNvPr id="9" name="AutoShape 9"/>
          <p:cNvSpPr/>
          <p:nvPr>
            <p:custDataLst>
              <p:tags r:id="rId6"/>
            </p:custDataLst>
          </p:nvPr>
        </p:nvSpPr>
        <p:spPr>
          <a:xfrm>
            <a:off x="6223000" y="1778000"/>
            <a:ext cx="5207000" cy="4445000"/>
          </a:xfrm>
          <a:prstGeom prst="roundRect">
            <a:avLst>
              <a:gd name="adj" fmla="val 4571"/>
            </a:avLst>
          </a:prstGeom>
          <a:solidFill>
            <a:srgbClr val="FFFFFF">
              <a:alpha val="95000"/>
            </a:srgbClr>
          </a:solidFill>
          <a:ln w="25400" cap="flat" cmpd="sng">
            <a:noFill/>
            <a:prstDash val="solid"/>
            <a:round/>
          </a:ln>
          <a:effectLst>
            <a:outerShdw blurRad="254000" dist="50800" dir="54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0" name="AutoShape 10"/>
          <p:cNvSpPr/>
          <p:nvPr>
            <p:custDataLst>
              <p:tags r:id="rId7"/>
            </p:custDataLst>
          </p:nvPr>
        </p:nvSpPr>
        <p:spPr>
          <a:xfrm>
            <a:off x="6477000" y="2032000"/>
            <a:ext cx="4699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2200" b="1" i="0" u="none" strike="noStrike" kern="0" cap="none" spc="0" normalizeH="0" baseline="0" noProof="0">
                <a:ln>
                  <a:noFill/>
                </a:ln>
                <a:solidFill>
                  <a:srgbClr val="22C55E"/>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02 / 场景横向拓展</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1" name="AutoShape 11"/>
          <p:cNvSpPr/>
          <p:nvPr>
            <p:custDataLst>
              <p:tags r:id="rId8"/>
            </p:custDataLst>
          </p:nvPr>
        </p:nvSpPr>
        <p:spPr>
          <a:xfrm>
            <a:off x="6477000" y="2921000"/>
            <a:ext cx="4699000" cy="2921000"/>
          </a:xfrm>
          <a:prstGeom prst="roundRect">
            <a:avLst>
              <a:gd name="adj" fmla="val 5217"/>
            </a:avLst>
          </a:prstGeom>
          <a:solidFill>
            <a:srgbClr val="F9FAFB">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12" name="Picture 12"/>
          <p:cNvPicPr>
            <a:picLocks noChangeAspect="1"/>
          </p:cNvPicPr>
          <p:nvPr>
            <p:custDataLst>
              <p:tags r:id="rId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731000" y="3302000"/>
            <a:ext cx="812800" cy="812800"/>
          </a:xfrm>
          <a:prstGeom prst="rect">
            <a:avLst/>
          </a:prstGeom>
        </p:spPr>
      </p:pic>
      <p:sp>
        <p:nvSpPr>
          <p:cNvPr id="13" name="AutoShape 13"/>
          <p:cNvSpPr/>
          <p:nvPr>
            <p:custDataLst>
              <p:tags r:id="rId10"/>
            </p:custDataLst>
          </p:nvPr>
        </p:nvSpPr>
        <p:spPr>
          <a:xfrm>
            <a:off x="7874000" y="3175000"/>
            <a:ext cx="3048000" cy="2413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17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a:ln>
                  <a:noFill/>
                </a:ln>
                <a:solidFill>
                  <a:srgbClr val="1F2937"/>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复用架构，实现规模化增长</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2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在健身房场景跑通并验证成熟后，计划在6-12个月内，快速拓展至瑜伽馆（聚焦瑜伽垫清洁痛点）、游泳馆（重点解决更衣室卫生管理）等泛健身场景。通过直接复用现有的小程序底层技术架构，显著降低新场景研发成本，最终实现业务的快速规模化扩张。</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AutoShape 3"/>
          <p:cNvSpPr/>
          <p:nvPr/>
        </p:nvSpPr>
        <p:spPr>
          <a:xfrm>
            <a:off x="0" y="1524000"/>
            <a:ext cx="12192000" cy="1651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2000" b="1" i="0" u="none" strike="noStrike" kern="0" cap="none" spc="0" normalizeH="0" baseline="0" noProof="0">
                <a:ln>
                  <a:noFill/>
                </a:ln>
                <a:solidFill>
                  <a:srgbClr val="22C55E"/>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 name="AutoShape 4"/>
          <p:cNvSpPr/>
          <p:nvPr/>
        </p:nvSpPr>
        <p:spPr>
          <a:xfrm>
            <a:off x="0" y="3429000"/>
            <a:ext cx="12192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4000" b="1" i="0" u="none" strike="noStrike" kern="0" cap="none" spc="0" normalizeH="0" baseline="0" noProof="0">
                <a:ln>
                  <a:noFill/>
                </a:ln>
                <a:solidFill>
                  <a:srgbClr val="1F2937"/>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升华展望</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5" name="AutoShape 5"/>
          <p:cNvSpPr/>
          <p:nvPr/>
        </p:nvSpPr>
        <p:spPr>
          <a:xfrm>
            <a:off x="5588000" y="4445000"/>
            <a:ext cx="1016000" cy="76200"/>
          </a:xfrm>
          <a:prstGeom prst="roundRect">
            <a:avLst>
              <a:gd name="adj" fmla="val 50000"/>
            </a:avLst>
          </a:prstGeom>
          <a:solidFill>
            <a:srgbClr val="22C55E">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6" name="AutoShape 6"/>
          <p:cNvSpPr/>
          <p:nvPr/>
        </p:nvSpPr>
        <p:spPr>
          <a:xfrm>
            <a:off x="0" y="4953000"/>
            <a:ext cx="12192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2400" b="1" i="0" u="none" strike="noStrike" kern="0" cap="none" spc="0" normalizeH="0" baseline="0" noProof="0" dirty="0" err="1">
                <a:ln>
                  <a:noFill/>
                </a:ln>
                <a:solidFill>
                  <a:srgbClr val="6B7280"/>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构建中国健身房的“卫生信用地图</a:t>
            </a:r>
            <a:r>
              <a:rPr kumimoji="0" lang="en-US" sz="2400" b="1" i="0" u="none" strike="noStrike" kern="0" cap="none" spc="0" normalizeH="0" baseline="0" noProof="0" dirty="0">
                <a:ln>
                  <a:noFill/>
                </a:ln>
                <a:solidFill>
                  <a:srgbClr val="6B7280"/>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kumimoji="0" lang="en-US" sz="11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AutoShape 3"/>
          <p:cNvSpPr/>
          <p:nvPr/>
        </p:nvSpPr>
        <p:spPr>
          <a:xfrm>
            <a:off x="762000" y="635000"/>
            <a:ext cx="10668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3200" b="1" i="0" u="none" strike="noStrike" kern="0" cap="none" spc="0" normalizeH="0" baseline="0" noProof="0">
                <a:ln>
                  <a:noFill/>
                </a:ln>
                <a:solidFill>
                  <a:srgbClr val="1F2937"/>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分阶段落地计划</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 name="AutoShape 4"/>
          <p:cNvSpPr/>
          <p:nvPr/>
        </p:nvSpPr>
        <p:spPr>
          <a:xfrm>
            <a:off x="762000" y="1651000"/>
            <a:ext cx="3302000" cy="4572000"/>
          </a:xfrm>
          <a:prstGeom prst="roundRect">
            <a:avLst>
              <a:gd name="adj" fmla="val 4615"/>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5" name="AutoShape 5"/>
          <p:cNvSpPr/>
          <p:nvPr/>
        </p:nvSpPr>
        <p:spPr>
          <a:xfrm>
            <a:off x="1016000" y="1905000"/>
            <a:ext cx="609600" cy="609600"/>
          </a:xfrm>
          <a:prstGeom prst="ellipse">
            <a:avLst/>
          </a:prstGeom>
          <a:solidFill>
            <a:srgbClr val="ECFDF5">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6" name="Picture 6"/>
          <p:cNvPicPr>
            <a:picLocks noChangeAspect="1"/>
          </p:cNvPicPr>
          <p:nvPr/>
        </p:nvPicPr>
        <p:blipFill>
          <a:blip r:embed="rId4"/>
          <a:srcRect/>
          <a:stretch>
            <a:fillRect/>
          </a:stretch>
        </p:blipFill>
        <p:spPr>
          <a:xfrm>
            <a:off x="1143000" y="2032000"/>
            <a:ext cx="355600" cy="355600"/>
          </a:xfrm>
          <a:prstGeom prst="rect">
            <a:avLst/>
          </a:prstGeom>
          <a:noFill/>
          <a:ln w="25400" cap="flat" cmpd="sng">
            <a:noFill/>
            <a:prstDash val="solid"/>
            <a:round/>
          </a:ln>
        </p:spPr>
      </p:pic>
      <p:sp>
        <p:nvSpPr>
          <p:cNvPr id="7" name="AutoShape 7"/>
          <p:cNvSpPr/>
          <p:nvPr/>
        </p:nvSpPr>
        <p:spPr>
          <a:xfrm>
            <a:off x="1778000" y="1955800"/>
            <a:ext cx="127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800" b="1" i="0" u="none" strike="noStrike" kern="0" cap="none" spc="0" normalizeH="0" baseline="0" noProof="0">
                <a:ln>
                  <a:noFill/>
                </a:ln>
                <a:solidFill>
                  <a:srgbClr val="22C55E"/>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近期目标</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8" name="AutoShape 8"/>
          <p:cNvSpPr/>
          <p:nvPr/>
        </p:nvSpPr>
        <p:spPr>
          <a:xfrm>
            <a:off x="2921000" y="2006600"/>
            <a:ext cx="889000" cy="304800"/>
          </a:xfrm>
          <a:prstGeom prst="roundRect">
            <a:avLst>
              <a:gd name="adj" fmla="val 50000"/>
            </a:avLst>
          </a:prstGeom>
          <a:solidFill>
            <a:srgbClr val="22C55E">
              <a:alpha val="100000"/>
            </a:srgbClr>
          </a:solid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200" b="0" i="0" u="none" strike="noStrike" kern="0" cap="none" spc="0" normalizeH="0" baseline="0" noProof="0">
                <a:ln>
                  <a:noFill/>
                </a:ln>
                <a:solidFill>
                  <a:srgbClr val="FFFFFF"/>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1-6个月</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9" name="AutoShape 9"/>
          <p:cNvSpPr/>
          <p:nvPr/>
        </p:nvSpPr>
        <p:spPr>
          <a:xfrm>
            <a:off x="1016000" y="2667000"/>
            <a:ext cx="2794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500" b="1" i="0" u="none" strike="noStrike" kern="0" cap="none" spc="0" normalizeH="0" baseline="0" noProof="0">
                <a:ln>
                  <a:noFill/>
                </a:ln>
                <a:solidFill>
                  <a:srgbClr val="1F2937"/>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产品验证与试点</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0" name="AutoShape 10"/>
          <p:cNvSpPr/>
          <p:nvPr/>
        </p:nvSpPr>
        <p:spPr>
          <a:xfrm>
            <a:off x="1016000" y="3302000"/>
            <a:ext cx="2794000" cy="825500"/>
          </a:xfrm>
          <a:prstGeom prst="roundRect">
            <a:avLst>
              <a:gd name="adj" fmla="val 12307"/>
            </a:avLst>
          </a:prstGeom>
          <a:solidFill>
            <a:srgbClr val="F9FAFB">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1" name="AutoShape 11"/>
          <p:cNvSpPr/>
          <p:nvPr/>
        </p:nvSpPr>
        <p:spPr>
          <a:xfrm>
            <a:off x="1143000" y="3403600"/>
            <a:ext cx="2540000" cy="254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200" b="1" i="0" u="none" strike="noStrike" kern="0" cap="none" spc="0" normalizeH="0" baseline="0" noProof="0">
                <a:ln>
                  <a:noFill/>
                </a:ln>
                <a:solidFill>
                  <a:srgbClr val="22C55E"/>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核心目标</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2" name="AutoShape 12"/>
          <p:cNvSpPr/>
          <p:nvPr/>
        </p:nvSpPr>
        <p:spPr>
          <a:xfrm>
            <a:off x="1143000" y="3683000"/>
            <a:ext cx="254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92000"/>
              </a:lnSpc>
              <a:spcBef>
                <a:spcPts val="0"/>
              </a:spcBef>
              <a:spcAft>
                <a:spcPts val="0"/>
              </a:spcAft>
              <a:buClr>
                <a:srgbClr val="000000"/>
              </a:buClr>
              <a:buSzTx/>
              <a:buFont typeface="Arial" panose="020B0604020202020204"/>
              <a:buNone/>
              <a:defRPr/>
            </a:pPr>
            <a:r>
              <a:rPr kumimoji="0" lang="en-US" sz="11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完成小程序1.0上线，跑通“用户反馈-保洁响应”的业务闭环。</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3" name="AutoShape 13"/>
          <p:cNvSpPr/>
          <p:nvPr/>
        </p:nvSpPr>
        <p:spPr>
          <a:xfrm>
            <a:off x="1016000" y="4254500"/>
            <a:ext cx="2794000" cy="825500"/>
          </a:xfrm>
          <a:prstGeom prst="roundRect">
            <a:avLst>
              <a:gd name="adj" fmla="val 12307"/>
            </a:avLst>
          </a:prstGeom>
          <a:solidFill>
            <a:srgbClr val="F9FAFB">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4" name="AutoShape 14"/>
          <p:cNvSpPr/>
          <p:nvPr/>
        </p:nvSpPr>
        <p:spPr>
          <a:xfrm>
            <a:off x="1143000" y="4356100"/>
            <a:ext cx="2540000" cy="254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200" b="1" i="0" u="none" strike="noStrike" kern="0" cap="none" spc="0" normalizeH="0" baseline="0" noProof="0">
                <a:ln>
                  <a:noFill/>
                </a:ln>
                <a:solidFill>
                  <a:srgbClr val="22C55E"/>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试点验证</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5" name="AutoShape 15"/>
          <p:cNvSpPr/>
          <p:nvPr/>
        </p:nvSpPr>
        <p:spPr>
          <a:xfrm>
            <a:off x="1143000" y="4635500"/>
            <a:ext cx="254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92000"/>
              </a:lnSpc>
              <a:spcBef>
                <a:spcPts val="0"/>
              </a:spcBef>
              <a:spcAft>
                <a:spcPts val="0"/>
              </a:spcAft>
              <a:buClr>
                <a:srgbClr val="000000"/>
              </a:buClr>
              <a:buSzTx/>
              <a:buFont typeface="Arial" panose="020B0604020202020204"/>
              <a:buNone/>
              <a:defRPr/>
            </a:pPr>
            <a:r>
              <a:rPr kumimoji="0" lang="en-US" sz="11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在本地3家标杆健身房试点，收集至少1000条清洁数据，优化算法模型。</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6" name="AutoShape 16"/>
          <p:cNvSpPr/>
          <p:nvPr/>
        </p:nvSpPr>
        <p:spPr>
          <a:xfrm>
            <a:off x="1016000" y="5207000"/>
            <a:ext cx="2794000" cy="825500"/>
          </a:xfrm>
          <a:prstGeom prst="roundRect">
            <a:avLst>
              <a:gd name="adj" fmla="val 12307"/>
            </a:avLst>
          </a:prstGeom>
          <a:solidFill>
            <a:srgbClr val="F9FAFB">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7" name="AutoShape 17"/>
          <p:cNvSpPr/>
          <p:nvPr/>
        </p:nvSpPr>
        <p:spPr>
          <a:xfrm>
            <a:off x="1143000" y="5308600"/>
            <a:ext cx="2540000" cy="254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200" b="1" i="0" u="none" strike="noStrike" kern="0" cap="none" spc="0" normalizeH="0" baseline="0" noProof="0">
                <a:ln>
                  <a:noFill/>
                </a:ln>
                <a:solidFill>
                  <a:srgbClr val="22C55E"/>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效率提升</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8" name="AutoShape 18"/>
          <p:cNvSpPr/>
          <p:nvPr/>
        </p:nvSpPr>
        <p:spPr>
          <a:xfrm>
            <a:off x="1143000" y="5588000"/>
            <a:ext cx="254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92000"/>
              </a:lnSpc>
              <a:spcBef>
                <a:spcPts val="0"/>
              </a:spcBef>
              <a:spcAft>
                <a:spcPts val="0"/>
              </a:spcAft>
              <a:buClr>
                <a:srgbClr val="000000"/>
              </a:buClr>
              <a:buSzTx/>
              <a:buFont typeface="Arial" panose="020B0604020202020204"/>
              <a:buNone/>
              <a:defRPr/>
            </a:pPr>
            <a:r>
              <a:rPr kumimoji="0" lang="en-US" sz="11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将保洁人员的平均响应时间，压缩至分钟</a:t>
            </a:r>
            <a:r>
              <a:rPr kumimoji="0" lang="zh-CN" altLang="en-US" sz="11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数量级</a:t>
            </a:r>
            <a:r>
              <a:rPr kumimoji="0" lang="en-US" sz="11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9" name="AutoShape 19"/>
          <p:cNvSpPr/>
          <p:nvPr/>
        </p:nvSpPr>
        <p:spPr>
          <a:xfrm>
            <a:off x="4318000" y="1651000"/>
            <a:ext cx="3302000" cy="4572000"/>
          </a:xfrm>
          <a:prstGeom prst="roundRect">
            <a:avLst>
              <a:gd name="adj" fmla="val 4615"/>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0" name="AutoShape 20"/>
          <p:cNvSpPr/>
          <p:nvPr/>
        </p:nvSpPr>
        <p:spPr>
          <a:xfrm>
            <a:off x="4572000" y="1905000"/>
            <a:ext cx="609600" cy="609600"/>
          </a:xfrm>
          <a:prstGeom prst="ellipse">
            <a:avLst/>
          </a:prstGeom>
          <a:solidFill>
            <a:srgbClr val="FFF7ED">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21" name="Picture 21"/>
          <p:cNvPicPr>
            <a:picLocks noChangeAspect="1"/>
          </p:cNvPicPr>
          <p:nvPr/>
        </p:nvPicPr>
        <p:blipFill>
          <a:blip r:embed="rId5"/>
          <a:srcRect/>
          <a:stretch>
            <a:fillRect/>
          </a:stretch>
        </p:blipFill>
        <p:spPr>
          <a:xfrm>
            <a:off x="4699000" y="2032000"/>
            <a:ext cx="355600" cy="355600"/>
          </a:xfrm>
          <a:prstGeom prst="rect">
            <a:avLst/>
          </a:prstGeom>
          <a:noFill/>
          <a:ln w="25400" cap="flat" cmpd="sng">
            <a:noFill/>
            <a:prstDash val="solid"/>
            <a:round/>
          </a:ln>
        </p:spPr>
      </p:pic>
      <p:sp>
        <p:nvSpPr>
          <p:cNvPr id="22" name="AutoShape 22"/>
          <p:cNvSpPr/>
          <p:nvPr/>
        </p:nvSpPr>
        <p:spPr>
          <a:xfrm>
            <a:off x="5334000" y="1955800"/>
            <a:ext cx="127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800" b="1" i="0" u="none" strike="noStrike" kern="0" cap="none" spc="0" normalizeH="0" baseline="0" noProof="0">
                <a:ln>
                  <a:noFill/>
                </a:ln>
                <a:solidFill>
                  <a:srgbClr val="F59E0B"/>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中期目标</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3" name="AutoShape 23"/>
          <p:cNvSpPr/>
          <p:nvPr/>
        </p:nvSpPr>
        <p:spPr>
          <a:xfrm>
            <a:off x="6540500" y="2006600"/>
            <a:ext cx="889000" cy="304800"/>
          </a:xfrm>
          <a:prstGeom prst="roundRect">
            <a:avLst>
              <a:gd name="adj" fmla="val 50000"/>
            </a:avLst>
          </a:prstGeom>
          <a:solidFill>
            <a:srgbClr val="F59E0B">
              <a:alpha val="100000"/>
            </a:srgbClr>
          </a:solid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200" b="0" i="0" u="none" strike="noStrike" kern="0" cap="none" spc="0" normalizeH="0" baseline="0" noProof="0">
                <a:ln>
                  <a:noFill/>
                </a:ln>
                <a:solidFill>
                  <a:srgbClr val="FFFFFF"/>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6-12个月</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4" name="AutoShape 24"/>
          <p:cNvSpPr/>
          <p:nvPr/>
        </p:nvSpPr>
        <p:spPr>
          <a:xfrm>
            <a:off x="4572000" y="2667000"/>
            <a:ext cx="2794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500" b="1" i="0" u="none" strike="noStrike" kern="0" cap="none" spc="0" normalizeH="0" baseline="0" noProof="0">
                <a:ln>
                  <a:noFill/>
                </a:ln>
                <a:solidFill>
                  <a:srgbClr val="1F2937"/>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软硬一体与行业拓展</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5" name="AutoShape 25"/>
          <p:cNvSpPr/>
          <p:nvPr/>
        </p:nvSpPr>
        <p:spPr>
          <a:xfrm>
            <a:off x="4572000" y="3302000"/>
            <a:ext cx="2794000" cy="825500"/>
          </a:xfrm>
          <a:prstGeom prst="roundRect">
            <a:avLst>
              <a:gd name="adj" fmla="val 12307"/>
            </a:avLst>
          </a:prstGeom>
          <a:solidFill>
            <a:srgbClr val="F9FAFB">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6" name="AutoShape 26"/>
          <p:cNvSpPr/>
          <p:nvPr/>
        </p:nvSpPr>
        <p:spPr>
          <a:xfrm>
            <a:off x="4699000" y="3403600"/>
            <a:ext cx="2540000" cy="254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200" b="1" i="0" u="none" strike="noStrike" kern="0" cap="none" spc="0" normalizeH="0" baseline="0" noProof="0">
                <a:ln>
                  <a:noFill/>
                </a:ln>
                <a:solidFill>
                  <a:srgbClr val="F59E0B"/>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核心目标</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7" name="AutoShape 27"/>
          <p:cNvSpPr/>
          <p:nvPr/>
        </p:nvSpPr>
        <p:spPr>
          <a:xfrm>
            <a:off x="4699000" y="3683000"/>
            <a:ext cx="254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92000"/>
              </a:lnSpc>
              <a:spcBef>
                <a:spcPts val="0"/>
              </a:spcBef>
              <a:spcAft>
                <a:spcPts val="0"/>
              </a:spcAft>
              <a:buClr>
                <a:srgbClr val="000000"/>
              </a:buClr>
              <a:buSzTx/>
              <a:buFont typeface="Arial" panose="020B0604020202020204"/>
              <a:buNone/>
              <a:defRPr/>
            </a:pPr>
            <a:r>
              <a:rPr kumimoji="0" lang="en-US" sz="11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实现“线上管理+线下硬件”联动，扩大市场覆盖份额。</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8" name="AutoShape 28"/>
          <p:cNvSpPr/>
          <p:nvPr/>
        </p:nvSpPr>
        <p:spPr>
          <a:xfrm>
            <a:off x="4572000" y="4254500"/>
            <a:ext cx="2794000" cy="825500"/>
          </a:xfrm>
          <a:prstGeom prst="roundRect">
            <a:avLst>
              <a:gd name="adj" fmla="val 12307"/>
            </a:avLst>
          </a:prstGeom>
          <a:solidFill>
            <a:srgbClr val="F9FAFB">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9" name="AutoShape 29"/>
          <p:cNvSpPr/>
          <p:nvPr/>
        </p:nvSpPr>
        <p:spPr>
          <a:xfrm>
            <a:off x="4699000" y="4356100"/>
            <a:ext cx="2540000" cy="254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200" b="1" i="0" u="none" strike="noStrike" kern="0" cap="none" spc="0" normalizeH="0" baseline="0" noProof="0">
                <a:ln>
                  <a:noFill/>
                </a:ln>
                <a:solidFill>
                  <a:srgbClr val="F59E0B"/>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硬件升级</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0" name="AutoShape 30"/>
          <p:cNvSpPr/>
          <p:nvPr/>
        </p:nvSpPr>
        <p:spPr>
          <a:xfrm>
            <a:off x="4699000" y="4635500"/>
            <a:ext cx="254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92000"/>
              </a:lnSpc>
              <a:spcBef>
                <a:spcPts val="0"/>
              </a:spcBef>
              <a:spcAft>
                <a:spcPts val="0"/>
              </a:spcAft>
              <a:buClr>
                <a:srgbClr val="000000"/>
              </a:buClr>
              <a:buSzTx/>
              <a:buFont typeface="Arial" panose="020B0604020202020204"/>
              <a:buNone/>
              <a:defRPr/>
            </a:pPr>
            <a:r>
              <a:rPr kumimoji="0" lang="en-US" sz="11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完成线下“器械状态灯”的研发与批量安装，实现状态可视化。</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1" name="AutoShape 31"/>
          <p:cNvSpPr/>
          <p:nvPr/>
        </p:nvSpPr>
        <p:spPr>
          <a:xfrm>
            <a:off x="4572000" y="5207000"/>
            <a:ext cx="2794000" cy="825500"/>
          </a:xfrm>
          <a:prstGeom prst="roundRect">
            <a:avLst>
              <a:gd name="adj" fmla="val 12307"/>
            </a:avLst>
          </a:prstGeom>
          <a:solidFill>
            <a:srgbClr val="F9FAFB">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2" name="AutoShape 32"/>
          <p:cNvSpPr/>
          <p:nvPr/>
        </p:nvSpPr>
        <p:spPr>
          <a:xfrm>
            <a:off x="4699000" y="5308600"/>
            <a:ext cx="2540000" cy="254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200" b="1" i="0" u="none" strike="noStrike" kern="0" cap="none" spc="0" normalizeH="0" baseline="0" noProof="0">
                <a:ln>
                  <a:noFill/>
                </a:ln>
                <a:solidFill>
                  <a:srgbClr val="F59E0B"/>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场景拓展</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3" name="AutoShape 33"/>
          <p:cNvSpPr/>
          <p:nvPr/>
        </p:nvSpPr>
        <p:spPr>
          <a:xfrm>
            <a:off x="4699000" y="5588000"/>
            <a:ext cx="254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92000"/>
              </a:lnSpc>
              <a:spcBef>
                <a:spcPts val="0"/>
              </a:spcBef>
              <a:spcAft>
                <a:spcPts val="0"/>
              </a:spcAft>
              <a:buClr>
                <a:srgbClr val="000000"/>
              </a:buClr>
              <a:buSzTx/>
              <a:buFont typeface="Arial" panose="020B0604020202020204"/>
              <a:buNone/>
              <a:defRPr/>
            </a:pPr>
            <a:r>
              <a:rPr kumimoji="0" lang="en-US" sz="11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将成熟的管理模式复制到瑜伽馆、游泳馆等泛健身高频场景。</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4" name="AutoShape 34"/>
          <p:cNvSpPr/>
          <p:nvPr/>
        </p:nvSpPr>
        <p:spPr>
          <a:xfrm>
            <a:off x="7874000" y="1651000"/>
            <a:ext cx="3302000" cy="4572000"/>
          </a:xfrm>
          <a:prstGeom prst="roundRect">
            <a:avLst>
              <a:gd name="adj" fmla="val 4615"/>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5" name="AutoShape 35"/>
          <p:cNvSpPr/>
          <p:nvPr/>
        </p:nvSpPr>
        <p:spPr>
          <a:xfrm>
            <a:off x="8128000" y="1905000"/>
            <a:ext cx="609600" cy="609600"/>
          </a:xfrm>
          <a:prstGeom prst="ellipse">
            <a:avLst/>
          </a:prstGeom>
          <a:solidFill>
            <a:srgbClr val="EFF6FF">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36" name="Picture 36"/>
          <p:cNvPicPr>
            <a:picLocks noChangeAspect="1"/>
          </p:cNvPicPr>
          <p:nvPr/>
        </p:nvPicPr>
        <p:blipFill>
          <a:blip r:embed="rId6"/>
          <a:srcRect/>
          <a:stretch>
            <a:fillRect/>
          </a:stretch>
        </p:blipFill>
        <p:spPr>
          <a:xfrm>
            <a:off x="8255000" y="2032000"/>
            <a:ext cx="355600" cy="355600"/>
          </a:xfrm>
          <a:prstGeom prst="rect">
            <a:avLst/>
          </a:prstGeom>
          <a:noFill/>
          <a:ln w="25400" cap="flat" cmpd="sng">
            <a:noFill/>
            <a:prstDash val="solid"/>
            <a:round/>
          </a:ln>
        </p:spPr>
      </p:pic>
      <p:sp>
        <p:nvSpPr>
          <p:cNvPr id="37" name="AutoShape 37"/>
          <p:cNvSpPr/>
          <p:nvPr/>
        </p:nvSpPr>
        <p:spPr>
          <a:xfrm>
            <a:off x="8890000" y="1955800"/>
            <a:ext cx="127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800" b="1" i="0" u="none" strike="noStrike" kern="0" cap="none" spc="0" normalizeH="0" baseline="0" noProof="0">
                <a:ln>
                  <a:noFill/>
                </a:ln>
                <a:solidFill>
                  <a:srgbClr val="3B82F6"/>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远期目标</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8" name="AutoShape 38"/>
          <p:cNvSpPr/>
          <p:nvPr/>
        </p:nvSpPr>
        <p:spPr>
          <a:xfrm>
            <a:off x="10033000" y="2006600"/>
            <a:ext cx="952500" cy="304800"/>
          </a:xfrm>
          <a:prstGeom prst="roundRect">
            <a:avLst>
              <a:gd name="adj" fmla="val 50000"/>
            </a:avLst>
          </a:prstGeom>
          <a:solidFill>
            <a:srgbClr val="3B82F6">
              <a:alpha val="100000"/>
            </a:srgbClr>
          </a:solid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200" b="0" i="0" u="none" strike="noStrike" kern="0" cap="none" spc="0" normalizeH="0" baseline="0" noProof="0">
                <a:ln>
                  <a:noFill/>
                </a:ln>
                <a:solidFill>
                  <a:srgbClr val="FFFFFF"/>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12-24个月</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9" name="AutoShape 39"/>
          <p:cNvSpPr/>
          <p:nvPr/>
        </p:nvSpPr>
        <p:spPr>
          <a:xfrm>
            <a:off x="8128000" y="2667000"/>
            <a:ext cx="2794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500" b="1" i="0" u="none" strike="noStrike" kern="0" cap="none" spc="0" normalizeH="0" baseline="0" noProof="0">
                <a:ln>
                  <a:noFill/>
                </a:ln>
                <a:solidFill>
                  <a:srgbClr val="1F2937"/>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生态互联与平台合作</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0" name="AutoShape 40"/>
          <p:cNvSpPr/>
          <p:nvPr/>
        </p:nvSpPr>
        <p:spPr>
          <a:xfrm>
            <a:off x="8128000" y="3302000"/>
            <a:ext cx="2794000" cy="825500"/>
          </a:xfrm>
          <a:prstGeom prst="roundRect">
            <a:avLst>
              <a:gd name="adj" fmla="val 12307"/>
            </a:avLst>
          </a:prstGeom>
          <a:solidFill>
            <a:srgbClr val="F9FAFB">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1" name="AutoShape 41"/>
          <p:cNvSpPr/>
          <p:nvPr/>
        </p:nvSpPr>
        <p:spPr>
          <a:xfrm>
            <a:off x="8255000" y="3403600"/>
            <a:ext cx="2540000" cy="254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200" b="1" i="0" u="none" strike="noStrike" kern="0" cap="none" spc="0" normalizeH="0" baseline="0" noProof="0">
                <a:ln>
                  <a:noFill/>
                </a:ln>
                <a:solidFill>
                  <a:srgbClr val="3B82F6"/>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核心目标</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2" name="AutoShape 42"/>
          <p:cNvSpPr/>
          <p:nvPr/>
        </p:nvSpPr>
        <p:spPr>
          <a:xfrm>
            <a:off x="8255000" y="3683000"/>
            <a:ext cx="254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92000"/>
              </a:lnSpc>
              <a:spcBef>
                <a:spcPts val="0"/>
              </a:spcBef>
              <a:spcAft>
                <a:spcPts val="0"/>
              </a:spcAft>
              <a:buClr>
                <a:srgbClr val="000000"/>
              </a:buClr>
              <a:buSzTx/>
              <a:buFont typeface="Arial" panose="020B0604020202020204"/>
              <a:buNone/>
              <a:defRPr/>
            </a:pPr>
            <a:r>
              <a:rPr kumimoji="0" lang="en-US" sz="11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接入头部流量平台，构建行业通用的“卫生信用体系”。</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3" name="AutoShape 43"/>
          <p:cNvSpPr/>
          <p:nvPr/>
        </p:nvSpPr>
        <p:spPr>
          <a:xfrm>
            <a:off x="8128000" y="4254500"/>
            <a:ext cx="2794000" cy="825500"/>
          </a:xfrm>
          <a:prstGeom prst="roundRect">
            <a:avLst>
              <a:gd name="adj" fmla="val 12307"/>
            </a:avLst>
          </a:prstGeom>
          <a:solidFill>
            <a:srgbClr val="F9FAFB">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4" name="AutoShape 44"/>
          <p:cNvSpPr/>
          <p:nvPr/>
        </p:nvSpPr>
        <p:spPr>
          <a:xfrm>
            <a:off x="8255000" y="4356100"/>
            <a:ext cx="2540000" cy="254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200" b="1" i="0" u="none" strike="noStrike" kern="0" cap="none" spc="0" normalizeH="0" baseline="0" noProof="0">
                <a:ln>
                  <a:noFill/>
                </a:ln>
                <a:solidFill>
                  <a:srgbClr val="3B82F6"/>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平台对接</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5" name="AutoShape 45"/>
          <p:cNvSpPr/>
          <p:nvPr/>
        </p:nvSpPr>
        <p:spPr>
          <a:xfrm>
            <a:off x="8255000" y="4635500"/>
            <a:ext cx="254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92000"/>
              </a:lnSpc>
              <a:spcBef>
                <a:spcPts val="0"/>
              </a:spcBef>
              <a:spcAft>
                <a:spcPts val="0"/>
              </a:spcAft>
              <a:buClr>
                <a:srgbClr val="000000"/>
              </a:buClr>
              <a:buSzTx/>
              <a:buFont typeface="Arial" panose="020B0604020202020204"/>
              <a:buNone/>
              <a:defRPr/>
            </a:pPr>
            <a:r>
              <a:rPr kumimoji="0" lang="en-US" sz="11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寻求与Keep、乐刻运动等头部APP达成API对接，实现数据互通。</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6" name="AutoShape 46"/>
          <p:cNvSpPr/>
          <p:nvPr/>
        </p:nvSpPr>
        <p:spPr>
          <a:xfrm>
            <a:off x="8128000" y="5207000"/>
            <a:ext cx="2794000" cy="825500"/>
          </a:xfrm>
          <a:prstGeom prst="roundRect">
            <a:avLst>
              <a:gd name="adj" fmla="val 12307"/>
            </a:avLst>
          </a:prstGeom>
          <a:solidFill>
            <a:srgbClr val="F9FAFB">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7" name="AutoShape 47"/>
          <p:cNvSpPr/>
          <p:nvPr/>
        </p:nvSpPr>
        <p:spPr>
          <a:xfrm>
            <a:off x="8255000" y="5308600"/>
            <a:ext cx="2540000" cy="254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200" b="1" i="0" u="none" strike="noStrike" kern="0" cap="none" spc="0" normalizeH="0" baseline="0" noProof="0">
                <a:ln>
                  <a:noFill/>
                </a:ln>
                <a:solidFill>
                  <a:srgbClr val="3B82F6"/>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价值赋能</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8" name="AutoShape 48"/>
          <p:cNvSpPr/>
          <p:nvPr/>
        </p:nvSpPr>
        <p:spPr>
          <a:xfrm>
            <a:off x="8255000" y="5588000"/>
            <a:ext cx="254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92000"/>
              </a:lnSpc>
              <a:spcBef>
                <a:spcPts val="0"/>
              </a:spcBef>
              <a:spcAft>
                <a:spcPts val="0"/>
              </a:spcAft>
              <a:buClr>
                <a:srgbClr val="000000"/>
              </a:buClr>
              <a:buSzTx/>
              <a:buFont typeface="Arial" panose="020B0604020202020204"/>
              <a:buNone/>
              <a:defRPr/>
            </a:pPr>
            <a:r>
              <a:rPr kumimoji="0" lang="en-US" sz="1100" b="0" i="0" u="none" strike="noStrike" kern="0" cap="none" spc="0" normalizeH="0" baseline="0" noProof="0">
                <a:ln>
                  <a:noFill/>
                </a:ln>
                <a:solidFill>
                  <a:srgbClr val="4B5563"/>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在合作平台展示合作门店“卫生洁净指数”，实现品牌与流量双向引流。</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AutoShape 3"/>
          <p:cNvSpPr/>
          <p:nvPr/>
        </p:nvSpPr>
        <p:spPr>
          <a:xfrm>
            <a:off x="0" y="2159000"/>
            <a:ext cx="12192000" cy="8890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4800" b="1" i="0" u="none" strike="noStrike" kern="0" cap="none" spc="0" normalizeH="0" baseline="0" noProof="0" dirty="0" err="1">
                <a:ln>
                  <a:noFill/>
                </a:ln>
                <a:solidFill>
                  <a:srgbClr val="FFFFFF"/>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感谢</a:t>
            </a:r>
            <a:r>
              <a:rPr lang="zh-CN" altLang="en-US" sz="4800" b="1"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大家</a:t>
            </a:r>
            <a:endParaRPr kumimoji="0" lang="en-US" sz="11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p:txBody>
      </p:sp>
      <p:sp>
        <p:nvSpPr>
          <p:cNvPr id="4" name="AutoShape 4"/>
          <p:cNvSpPr/>
          <p:nvPr/>
        </p:nvSpPr>
        <p:spPr>
          <a:xfrm>
            <a:off x="0" y="3302000"/>
            <a:ext cx="12192000" cy="5080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2200" b="0" i="0" u="none" strike="noStrike" kern="0" cap="none" spc="200" normalizeH="0" baseline="0" noProof="0">
                <a:ln>
                  <a:noFill/>
                </a:ln>
                <a:solidFill>
                  <a:srgbClr val="FFFFFF">
                    <a:alpha val="90196"/>
                  </a:srgbClr>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让每一次训练都充满愉悦与安心</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5" name="AutoShape 5"/>
          <p:cNvSpPr/>
          <p:nvPr/>
        </p:nvSpPr>
        <p:spPr>
          <a:xfrm>
            <a:off x="5588000" y="4191000"/>
            <a:ext cx="1016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6" name="AutoShape 6"/>
          <p:cNvSpPr/>
          <p:nvPr/>
        </p:nvSpPr>
        <p:spPr>
          <a:xfrm>
            <a:off x="0" y="4826000"/>
            <a:ext cx="12192000" cy="3810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600" b="0" i="0" u="none" strike="noStrike" kern="0" cap="none" spc="100" normalizeH="0" baseline="0" noProof="0">
                <a:ln>
                  <a:noFill/>
                </a:ln>
                <a:solidFill>
                  <a:srgbClr val="FFFFFF">
                    <a:alpha val="70196"/>
                  </a:srgbClr>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Heal the world 团队 | FITCLEAN</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10&quot;:[3632668]}"/>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30,&quot;width&quot;:840}"/>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30,&quot;width&quot;:840}"/>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30,&quot;width&quot;:840}"/>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30,&quot;width&quot;:840}"/>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30,&quot;width&quot;:840}"/>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30,&quot;width&quot;:840}"/>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30,&quot;width&quot;:840}"/>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30,&quot;width&quot;:840}"/>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30,&quot;width&quot;:840}"/>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30,&quot;width&quot;:840}"/>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30,&quot;width&quot;:840}"/>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30,&quot;width&quot;:840}"/>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30,&quot;width&quot;:840}"/>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30,&quot;width&quot;:840}"/>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30,&quot;width&quot;:840}"/>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30,&quot;width&quot;:840}"/>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30,&quot;width&quot;:840}"/>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30,&quot;width&quot;:840}"/>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30,&quot;width&quot;:840}"/>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30,&quot;width&quot;:840}"/>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03.89763779527567,&quot;left&quot;:113.49299212598426,&quot;top&quot;:172.60708661417323,&quot;width&quot;:1068.7453543307088}"/>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03.89763779527567,&quot;left&quot;:113.49299212598426,&quot;top&quot;:172.60708661417323,&quot;width&quot;:1068.7453543307088}"/>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28.0429133858268,&quot;left&quot;:113.49299212598426,&quot;top&quot;:172.60708661417323,&quot;width&quot;:1068.7453543307088}"/>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28.0429133858268,&quot;left&quot;:113.49299212598426,&quot;top&quot;:172.60708661417323,&quot;width&quot;:1068.7453543307088}"/>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28.0429133858268,&quot;left&quot;:113.49299212598426,&quot;top&quot;:172.60708661417323,&quot;width&quot;:1068.7453543307088}"/>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28.0429133858268,&quot;left&quot;:113.49299212598426,&quot;top&quot;:172.60708661417323,&quot;width&quot;:1068.7453543307088}"/>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28.0429133858268,&quot;left&quot;:113.49299212598426,&quot;top&quot;:172.60708661417323,&quot;width&quot;:1068.7453543307088}"/>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28.0429133858268,&quot;left&quot;:113.49299212598426,&quot;top&quot;:172.60708661417323,&quot;width&quot;:1068.7453543307088}"/>
</p:tagLst>
</file>

<file path=ppt/tags/tag30.xml><?xml version="1.0" encoding="utf-8"?>
<p:tagLst xmlns:a="http://schemas.openxmlformats.org/drawingml/2006/main" xmlns:r="http://schemas.openxmlformats.org/officeDocument/2006/relationships" xmlns:p="http://schemas.openxmlformats.org/presentationml/2006/main">
  <p:tag name="KSO_DOCER_RESOURCE_TRACE_INFO" val="{&quot;id&quot;:&quot;3632668&quot;,&quot;origin&quot;:0,&quot;type&quot;:&quot;icons&quot;,&quot;user&quot;:&quot;276514691&quot;}"/>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594.7,&quot;left&quot;:60,&quot;top&quot;:8.8,&quot;width&quot;:860}"/>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594.7,&quot;left&quot;:60,&quot;top&quot;:8.8,&quot;width&quot;:860}"/>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594.7,&quot;left&quot;:60,&quot;top&quot;:8.8,&quot;width&quot;:860}"/>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594.7,&quot;left&quot;:60,&quot;top&quot;:8.8,&quot;width&quot;:860}"/>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594.7,&quot;left&quot;:60,&quot;top&quot;:8.8,&quot;width&quot;:860}"/>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594.7,&quot;left&quot;:60,&quot;top&quot;:8.8,&quot;width&quot;:860}"/>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594.7,&quot;left&quot;:60,&quot;top&quot;:8.8,&quot;width&quot;:860}"/>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594.7,&quot;left&quot;:60,&quot;top&quot;:8.8,&quot;width&quot;:860}"/>
</p:tagLst>
</file>

<file path=ppt/tags/tag39.xml><?xml version="1.0" encoding="utf-8"?>
<p:tagLst xmlns:a="http://schemas.openxmlformats.org/drawingml/2006/main" xmlns:r="http://schemas.openxmlformats.org/officeDocument/2006/relationships" xmlns:p="http://schemas.openxmlformats.org/presentationml/2006/main">
  <p:tag name="KSO_DOCER_RESOURCE_TRACE_INFO" val="{&quot;id&quot;:&quot;20263042&quot;,&quot;origin&quot;:0,&quot;type&quot;:&quot;icons&quot;,&quot;user&quot;:&quot;276514691&quot;}"/>
  <p:tag name="KSO_WM_DIAGRAM_VIRTUALLY_FRAME" val="{&quot;height&quot;:594.7,&quot;left&quot;:60,&quot;top&quot;:8.8,&quot;width&quot;:860}"/>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594.7,&quot;left&quot;:60,&quot;top&quot;:8.8,&quot;width&quot;:860}"/>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594.7,&quot;left&quot;:60,&quot;top&quot;:8.8,&quot;width&quot;:860}"/>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594.7,&quot;left&quot;:60,&quot;top&quot;:8.8,&quot;width&quot;:860}"/>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594.7,&quot;left&quot;:60,&quot;top&quot;:8.8,&quot;width&quot;:860}"/>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594.7,&quot;left&quot;:60,&quot;top&quot;:8.8,&quot;width&quot;:860}"/>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594.7,&quot;left&quot;:60,&quot;top&quot;:8.8,&quot;width&quot;:860}"/>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594.7,&quot;left&quot;:60,&quot;top&quot;:8.8,&quot;width&quot;:860}"/>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594.7,&quot;left&quot;:60,&quot;top&quot;:8.8,&quot;width&quot;:860}"/>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594.7,&quot;left&quot;:60,&quot;top&quot;:8.8,&quot;width&quot;:860}"/>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594.7,&quot;left&quot;:60,&quot;top&quot;:8.8,&quot;width&quot;:860}"/>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594.7,&quot;left&quot;:60,&quot;top&quot;:8.8,&quot;width&quot;:860}"/>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594.7,&quot;left&quot;:60,&quot;top&quot;:8.8,&quot;width&quot;:860}"/>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594.7,&quot;left&quot;:60,&quot;top&quot;:8.8,&quot;width&quot;:860}"/>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594.7,&quot;left&quot;:60,&quot;top&quot;:8.8,&quot;width&quot;:860}"/>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594.7,&quot;left&quot;:60,&quot;top&quot;:8.8,&quot;width&quot;:860}"/>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594.7,&quot;left&quot;:60,&quot;top&quot;:8.8,&quot;width&quot;:860}"/>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50,&quot;width&quot;:840}"/>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50,&quot;width&quot;:840}"/>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50,&quot;width&quot;:840}"/>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0,&quot;top&quot;:140,&quot;width&quot;:840}"/>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0,&quot;top&quot;:140,&quot;width&quot;:840}"/>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0,&quot;top&quot;:140,&quot;width&quot;:840}"/>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0,&quot;top&quot;:140,&quot;width&quot;:840}"/>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0,&quot;top&quot;:140,&quot;width&quot;:840}"/>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0,&quot;top&quot;:140,&quot;width&quot;:840}"/>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0,&quot;top&quot;:140,&quot;width&quot;:840}"/>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0,&quot;top&quot;:140,&quot;width&quot;:840}"/>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0,&quot;top&quot;:140,&quot;width&quot;:840}"/>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0,&quot;top&quot;:140,&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1144</Words>
  <Application>Microsoft Office PowerPoint</Application>
  <PresentationFormat>宽屏</PresentationFormat>
  <Paragraphs>210</Paragraphs>
  <Slides>19</Slides>
  <Notes>19</Notes>
  <HiddenSlides>0</HiddenSlides>
  <MMClips>1</MMClips>
  <ScaleCrop>false</ScaleCrop>
  <HeadingPairs>
    <vt:vector size="6" baseType="variant">
      <vt:variant>
        <vt:lpstr>已用的字体</vt:lpstr>
      </vt:variant>
      <vt:variant>
        <vt:i4>4</vt:i4>
      </vt:variant>
      <vt:variant>
        <vt:lpstr>主题</vt:lpstr>
      </vt:variant>
      <vt:variant>
        <vt:i4>4</vt:i4>
      </vt:variant>
      <vt:variant>
        <vt:lpstr>幻灯片标题</vt:lpstr>
      </vt:variant>
      <vt:variant>
        <vt:i4>19</vt:i4>
      </vt:variant>
    </vt:vector>
  </HeadingPairs>
  <TitlesOfParts>
    <vt:vector size="27" baseType="lpstr">
      <vt:lpstr>微软雅黑</vt:lpstr>
      <vt:lpstr>Noto Sans SC</vt:lpstr>
      <vt:lpstr>Songti SC</vt:lpstr>
      <vt:lpstr>Arial</vt:lpstr>
      <vt:lpstr>Office 主题​​</vt:lpstr>
      <vt:lpstr>默认主题</vt:lpstr>
      <vt:lpstr>1_默认主题</vt:lpstr>
      <vt:lpstr>2_默认主题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cp:lastModifiedBy>8617891212326</cp:lastModifiedBy>
  <cp:revision>14</cp:revision>
  <dcterms:created xsi:type="dcterms:W3CDTF">2026-04-23T03:16:00Z</dcterms:created>
  <dcterms:modified xsi:type="dcterms:W3CDTF">2026-05-09T01:36:57Z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1C24DB08DB434FC2A91E63F94F671B5E_13</vt:lpwstr>
  </property>
</Properties>
</file>